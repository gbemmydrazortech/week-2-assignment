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66" r:id="rId6"/>
    <p:sldId id="259" r:id="rId7"/>
    <p:sldId id="260" r:id="rId8"/>
    <p:sldId id="261" r:id="rId9"/>
    <p:sldId id="262" r:id="rId10"/>
    <p:sldId id="272" r:id="rId11"/>
    <p:sldId id="270" r:id="rId12"/>
    <p:sldId id="267" r:id="rId13"/>
    <p:sldId id="263" r:id="rId14"/>
    <p:sldId id="264" r:id="rId15"/>
    <p:sldId id="268" r:id="rId16"/>
    <p:sldId id="269" r:id="rId17"/>
    <p:sldId id="265" r:id="rId1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j1QuJa+hLH6dIZYEHyQOOdgBSX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109039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26702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1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4367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" name="Google Shape;7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9379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5927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61146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17510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0242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7011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4548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/tmp/rasterized-gradient-ad8e1208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 rot="-900000">
            <a:off x="571649" y="285750"/>
            <a:ext cx="174879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0"/>
              <a:buFont typeface="Courier New"/>
              <a:buNone/>
            </a:pPr>
            <a:r>
              <a:rPr lang="en-US" sz="75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&lt;/&gt;</a:t>
            </a:r>
            <a:endParaRPr sz="7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 rot="900000">
            <a:off x="5638577" y="3409950"/>
            <a:ext cx="2798064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urier New"/>
              <a:buNone/>
            </a:pPr>
            <a:r>
              <a:rPr lang="en-US" sz="60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endParaRPr sz="6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905101" y="800100"/>
            <a:ext cx="1333500" cy="1333500"/>
          </a:xfrm>
          <a:prstGeom prst="roundRect">
            <a:avLst>
              <a:gd name="adj" fmla="val 50000"/>
            </a:avLst>
          </a:prstGeom>
          <a:solidFill>
            <a:srgbClr val="FFFFFF">
              <a:alpha val="14901"/>
            </a:srgbClr>
          </a:solidFill>
          <a:ln w="476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 descr="/tmp/rasterized-svg-caa07770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90851" y="10858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1900089" y="2438400"/>
            <a:ext cx="53435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HTML Fundamentals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321863" y="3162300"/>
            <a:ext cx="650012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 2: Building the Structure of the Web</a:t>
            </a: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000351" y="3848100"/>
            <a:ext cx="1143000" cy="381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321863" y="4076700"/>
            <a:ext cx="65001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Foundation of Every Website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600075" y="28575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2"/>
          <p:cNvSpPr/>
          <p:nvPr/>
        </p:nvSpPr>
        <p:spPr>
          <a:xfrm>
            <a:off x="857250" y="285750"/>
            <a:ext cx="39444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What is HTML?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71500" y="895350"/>
            <a:ext cx="3672459" cy="582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50"/>
              <a:buFont typeface="Arial"/>
              <a:buNone/>
            </a:pPr>
            <a:r>
              <a:rPr lang="en-US" sz="13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HTML stands for </a:t>
            </a:r>
            <a:r>
              <a:rPr lang="en-US" sz="135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HyperText Markup Language</a:t>
            </a:r>
            <a:r>
              <a:rPr lang="en-US" sz="13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. It's the skeleton of every webpage.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71500" y="1802011"/>
            <a:ext cx="3600450" cy="1588591"/>
          </a:xfrm>
          <a:prstGeom prst="roundRect">
            <a:avLst>
              <a:gd name="adj" fmla="val 479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2"/>
          <p:cNvCxnSpPr/>
          <p:nvPr/>
        </p:nvCxnSpPr>
        <p:spPr>
          <a:xfrm>
            <a:off x="590550" y="1802011"/>
            <a:ext cx="0" cy="1588591"/>
          </a:xfrm>
          <a:prstGeom prst="straightConnector1">
            <a:avLst/>
          </a:prstGeom>
          <a:noFill/>
          <a:ln w="381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2"/>
          <p:cNvSpPr/>
          <p:nvPr/>
        </p:nvSpPr>
        <p:spPr>
          <a:xfrm>
            <a:off x="819150" y="2011561"/>
            <a:ext cx="320611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Understanding the Name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19150" y="2354461"/>
            <a:ext cx="320611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HyperText:</a:t>
            </a: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Text that links to other documents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19150" y="2693491"/>
            <a:ext cx="3206115" cy="487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Markup:</a:t>
            </a: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You mark up content with tags that describe its meaning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71500" y="3733502"/>
            <a:ext cx="3600450" cy="1028700"/>
          </a:xfrm>
          <a:prstGeom prst="roundRect">
            <a:avLst>
              <a:gd name="adj" fmla="val 7407"/>
            </a:avLst>
          </a:prstGeom>
          <a:solidFill>
            <a:srgbClr val="E8F8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590550" y="3733502"/>
            <a:ext cx="0" cy="1028700"/>
          </a:xfrm>
          <a:prstGeom prst="straightConnector1">
            <a:avLst/>
          </a:prstGeom>
          <a:noFill/>
          <a:ln w="381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2"/>
          <p:cNvSpPr/>
          <p:nvPr/>
        </p:nvSpPr>
        <p:spPr>
          <a:xfrm>
            <a:off x="781050" y="3904952"/>
            <a:ext cx="328383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HTML is NOT a programming language - it's a markup language that describes structure and content.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4438650" y="1512987"/>
            <a:ext cx="4133850" cy="2631430"/>
          </a:xfrm>
          <a:prstGeom prst="roundRect">
            <a:avLst>
              <a:gd name="adj" fmla="val 4344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05350" y="1779687"/>
            <a:ext cx="3672459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rPr>
              <a:t>EXAMPLE HTML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705350" y="2271117"/>
            <a:ext cx="3600450" cy="1020812"/>
          </a:xfrm>
          <a:prstGeom prst="roundRect">
            <a:avLst>
              <a:gd name="adj" fmla="val 7465"/>
            </a:avLst>
          </a:prstGeom>
          <a:solidFill>
            <a:srgbClr val="3449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895850" y="2461617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rPr>
              <a:t>&lt;h1&gt;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086350" y="2674888"/>
            <a:ext cx="308952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895850" y="2888159"/>
            <a:ext cx="3283839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rPr>
              <a:t>&lt;/h1&gt;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705350" y="3634829"/>
            <a:ext cx="3672459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0044"/>
              </a:lnSpc>
              <a:spcBef>
                <a:spcPts val="0"/>
              </a:spcBef>
              <a:spcAft>
                <a:spcPts val="0"/>
              </a:spcAft>
              <a:buClr>
                <a:srgbClr val="BDC3C7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Opening tag + Content + Closing tag = HTML Element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" name="Google Shape;55;p3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" name="Google Shape;56;p3"/>
          <p:cNvSpPr/>
          <p:nvPr/>
        </p:nvSpPr>
        <p:spPr>
          <a:xfrm>
            <a:off x="857250" y="342900"/>
            <a:ext cx="5411534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HTML Document Structure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71500" y="933450"/>
            <a:ext cx="4570363" cy="3980259"/>
          </a:xfrm>
          <a:prstGeom prst="roundRect">
            <a:avLst>
              <a:gd name="adj" fmla="val 2872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00100" y="1162050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rPr>
              <a:t>&lt;!DOCTYPE html&gt;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00100" y="1525786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&lt;html&gt;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800100" y="1889522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&lt;head&gt;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00100" y="2253258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39C12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F39C12"/>
                </a:solidFill>
                <a:latin typeface="Arial"/>
                <a:ea typeface="Arial"/>
                <a:cs typeface="Arial"/>
                <a:sym typeface="Arial"/>
              </a:rPr>
              <a:t>&lt;title&gt;Page Title&lt;/title&gt;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00100" y="2616994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&lt;/head&gt;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800100" y="3056930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&lt;body&gt;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00100" y="3420666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&lt;h1&gt;My First Page&lt;/h1&gt;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00100" y="3784402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&lt;p&gt;Welcome!&lt;/p&gt;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00100" y="4148137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&lt;/body&gt;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800100" y="4511873"/>
            <a:ext cx="4195426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E74C3C"/>
                </a:solidFill>
                <a:latin typeface="Arial"/>
                <a:ea typeface="Arial"/>
                <a:cs typeface="Arial"/>
                <a:sym typeface="Arial"/>
              </a:rPr>
              <a:t>&lt;/html&gt;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408563" y="1990130"/>
            <a:ext cx="3163937" cy="533400"/>
          </a:xfrm>
          <a:prstGeom prst="roundRect">
            <a:avLst>
              <a:gd name="adj" fmla="val 14286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3"/>
          <p:cNvCxnSpPr/>
          <p:nvPr/>
        </p:nvCxnSpPr>
        <p:spPr>
          <a:xfrm>
            <a:off x="5427613" y="1990130"/>
            <a:ext cx="0" cy="533400"/>
          </a:xfrm>
          <a:prstGeom prst="straightConnector1">
            <a:avLst/>
          </a:prstGeom>
          <a:noFill/>
          <a:ln w="38100" cap="flat" cmpd="sng">
            <a:solidFill>
              <a:srgbClr val="95A5A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p3"/>
          <p:cNvSpPr/>
          <p:nvPr/>
        </p:nvSpPr>
        <p:spPr>
          <a:xfrm>
            <a:off x="5599063" y="2142530"/>
            <a:ext cx="28774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rPr>
              <a:t>DOCTYPE:</a:t>
            </a: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Tells browser this is HTML5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408563" y="2656880"/>
            <a:ext cx="3163937" cy="533400"/>
          </a:xfrm>
          <a:prstGeom prst="roundRect">
            <a:avLst>
              <a:gd name="adj" fmla="val 14286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5427613" y="2656880"/>
            <a:ext cx="0" cy="533400"/>
          </a:xfrm>
          <a:prstGeom prst="straightConnector1">
            <a:avLst/>
          </a:prstGeom>
          <a:noFill/>
          <a:ln w="38100" cap="flat" cmpd="sng">
            <a:solidFill>
              <a:srgbClr val="3498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p3"/>
          <p:cNvSpPr/>
          <p:nvPr/>
        </p:nvSpPr>
        <p:spPr>
          <a:xfrm>
            <a:off x="5599063" y="2809280"/>
            <a:ext cx="28774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498DB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3498DB"/>
                </a:solidFill>
                <a:latin typeface="Arial"/>
                <a:ea typeface="Arial"/>
                <a:cs typeface="Arial"/>
                <a:sym typeface="Arial"/>
              </a:rPr>
              <a:t>Head:</a:t>
            </a: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Metadata (title, links to CSS)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08563" y="3323630"/>
            <a:ext cx="3163937" cy="533400"/>
          </a:xfrm>
          <a:prstGeom prst="roundRect">
            <a:avLst>
              <a:gd name="adj" fmla="val 14286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5427613" y="3323630"/>
            <a:ext cx="0" cy="533400"/>
          </a:xfrm>
          <a:prstGeom prst="straightConnector1">
            <a:avLst/>
          </a:prstGeom>
          <a:noFill/>
          <a:ln w="381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" name="Google Shape;76;p3"/>
          <p:cNvSpPr/>
          <p:nvPr/>
        </p:nvSpPr>
        <p:spPr>
          <a:xfrm>
            <a:off x="5599063" y="3476030"/>
            <a:ext cx="287745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Body:</a:t>
            </a: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All visible content goes here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11" name="bar11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txt12"/>
          <p:cNvSpPr/>
          <p:nvPr/>
        </p:nvSpPr>
        <p:spPr>
          <a:xfrm>
            <a:off x="857250" y="342900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</a:rPr>
              <a:t>What is the &lt;head&gt; Tag?</a:t>
            </a:r>
          </a:p>
        </p:txBody>
      </p:sp>
      <p:sp>
        <p:nvSpPr>
          <p:cNvPr id="20" name="card20"/>
          <p:cNvSpPr/>
          <p:nvPr/>
        </p:nvSpPr>
        <p:spPr>
          <a:xfrm>
            <a:off x="457200" y="1143000"/>
            <a:ext cx="8229600" cy="1143000"/>
          </a:xfrm>
          <a:prstGeom prst="roundRect">
            <a:avLst>
              <a:gd name="adj" fmla="val 5000"/>
            </a:avLst>
          </a:prstGeom>
          <a:solidFill>
            <a:srgbClr val="FFF9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21" name="ybar21"/>
          <p:cNvCxnSpPr/>
          <p:nvPr/>
        </p:nvCxnSpPr>
        <p:spPr>
          <a:xfrm>
            <a:off x="476250" y="1143000"/>
            <a:ext cx="0" cy="952500"/>
          </a:xfrm>
          <a:prstGeom prst="straightConnector1">
            <a:avLst/>
          </a:prstGeom>
          <a:noFill/>
          <a:ln w="381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txt22"/>
          <p:cNvSpPr/>
          <p:nvPr/>
        </p:nvSpPr>
        <p:spPr>
          <a:xfrm>
            <a:off x="667500" y="1200150"/>
            <a:ext cx="777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E67E22"/>
                </a:solidFill>
                <a:latin typeface="Arial"/>
              </a:rPr>
              <a:t>Think of it like the cover of a book</a:t>
            </a:r>
          </a:p>
        </p:txBody>
      </p:sp>
      <p:sp>
        <p:nvSpPr>
          <p:cNvPr id="23" name="txt23"/>
          <p:cNvSpPr/>
          <p:nvPr/>
        </p:nvSpPr>
        <p:spPr>
          <a:xfrm>
            <a:off x="667500" y="1514250"/>
            <a:ext cx="77724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2C3E50"/>
                </a:solidFill>
                <a:latin typeface="Arial"/>
              </a:rPr>
              <a:t>The cover has the title, author, publisher, ISBN — all critical info — but it's not the story itself.</a:t>
            </a:r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2C3E50"/>
                </a:solidFill>
                <a:latin typeface="Arial"/>
              </a:rPr>
              <a:t>The &lt;head&gt; works the same way: it holds the page title, links to CSS, character encoding, SEO info — but nothing inside it shows up in the browser window.</a:t>
            </a:r>
          </a:p>
        </p:txBody>
      </p:sp>
      <p:sp>
        <p:nvSpPr>
          <p:cNvPr id="30" name="card30"/>
          <p:cNvSpPr/>
          <p:nvPr/>
        </p:nvSpPr>
        <p:spPr>
          <a:xfrm>
            <a:off x="457200" y="2514600"/>
            <a:ext cx="2667000" cy="2400300"/>
          </a:xfrm>
          <a:prstGeom prst="roundRect">
            <a:avLst>
              <a:gd name="adj" fmla="val 6000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1" name="txt31"/>
          <p:cNvSpPr/>
          <p:nvPr/>
        </p:nvSpPr>
        <p:spPr>
          <a:xfrm>
            <a:off x="571500" y="2667000"/>
            <a:ext cx="243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Arial"/>
              </a:rPr>
              <a:t>🔤  Sets the page title</a:t>
            </a:r>
          </a:p>
        </p:txBody>
      </p:sp>
      <p:sp>
        <p:nvSpPr>
          <p:cNvPr id="32" name="txt32"/>
          <p:cNvSpPr/>
          <p:nvPr/>
        </p:nvSpPr>
        <p:spPr>
          <a:xfrm>
            <a:off x="571500" y="3048000"/>
            <a:ext cx="2438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Shown in the browser tab and search engine results. Without it, the tab just says 'Untitled'.</a:t>
            </a:r>
          </a:p>
        </p:txBody>
      </p:sp>
      <p:sp>
        <p:nvSpPr>
          <p:cNvPr id="34" name="card34"/>
          <p:cNvSpPr/>
          <p:nvPr/>
        </p:nvSpPr>
        <p:spPr>
          <a:xfrm>
            <a:off x="3276600" y="2514600"/>
            <a:ext cx="2667000" cy="2400300"/>
          </a:xfrm>
          <a:prstGeom prst="roundRect">
            <a:avLst>
              <a:gd name="adj" fmla="val 6000"/>
            </a:avLst>
          </a:prstGeom>
          <a:solidFill>
            <a:srgbClr val="F0F8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5" name="txt35"/>
          <p:cNvSpPr/>
          <p:nvPr/>
        </p:nvSpPr>
        <p:spPr>
          <a:xfrm>
            <a:off x="3390900" y="2667000"/>
            <a:ext cx="243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980B9"/>
                </a:solidFill>
                <a:latin typeface="Arial"/>
              </a:rPr>
              <a:t>🎨  Links your CSS file</a:t>
            </a:r>
          </a:p>
        </p:txBody>
      </p:sp>
      <p:sp>
        <p:nvSpPr>
          <p:cNvPr id="36" name="txt36"/>
          <p:cNvSpPr/>
          <p:nvPr/>
        </p:nvSpPr>
        <p:spPr>
          <a:xfrm>
            <a:off x="3390900" y="3048000"/>
            <a:ext cx="2438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The &lt;link rel='stylesheet'&gt; tag inside &lt;head&gt; is how your HTML finds and loads your styles.</a:t>
            </a:r>
          </a:p>
        </p:txBody>
      </p:sp>
      <p:sp>
        <p:nvSpPr>
          <p:cNvPr id="38" name="card38"/>
          <p:cNvSpPr/>
          <p:nvPr/>
        </p:nvSpPr>
        <p:spPr>
          <a:xfrm>
            <a:off x="6096000" y="2514600"/>
            <a:ext cx="2667000" cy="2400300"/>
          </a:xfrm>
          <a:prstGeom prst="roundRect">
            <a:avLst>
              <a:gd name="adj" fmla="val 6000"/>
            </a:avLst>
          </a:prstGeom>
          <a:solidFill>
            <a:srgbClr val="F0FF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9" name="txt39"/>
          <p:cNvSpPr/>
          <p:nvPr/>
        </p:nvSpPr>
        <p:spPr>
          <a:xfrm>
            <a:off x="6210300" y="2667000"/>
            <a:ext cx="2438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7AE60"/>
                </a:solidFill>
                <a:latin typeface="Arial"/>
              </a:rPr>
              <a:t>📱  Controls mobile display</a:t>
            </a:r>
          </a:p>
        </p:txBody>
      </p:sp>
      <p:sp>
        <p:nvSpPr>
          <p:cNvPr id="40" name="txt40"/>
          <p:cNvSpPr/>
          <p:nvPr/>
        </p:nvSpPr>
        <p:spPr>
          <a:xfrm>
            <a:off x="6210300" y="3048000"/>
            <a:ext cx="2438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The viewport meta tag tells mobile browsers how to scale the page — without it, sites look zoomed out on phones.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01" name="Google Shape;201;bar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title"/>
          <p:cNvSpPr/>
          <p:nvPr/>
        </p:nvSpPr>
        <p:spPr>
          <a:xfrm>
            <a:off x="857250" y="342900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</a:rPr>
              <a:t>What Goes in the &lt;head&gt; Tag?</a:t>
            </a:r>
          </a:p>
        </p:txBody>
      </p:sp>
      <p:sp>
        <p:nvSpPr>
          <p:cNvPr id="210" name="Google Shape;210;card"/>
          <p:cNvSpPr/>
          <p:nvPr/>
        </p:nvSpPr>
        <p:spPr>
          <a:xfrm>
            <a:off x="571500" y="933450"/>
            <a:ext cx="3810000" cy="30480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11" name="Google Shape;211;body"/>
          <p:cNvSpPr/>
          <p:nvPr/>
        </p:nvSpPr>
        <p:spPr>
          <a:xfrm>
            <a:off x="762000" y="990600"/>
            <a:ext cx="3429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0392B"/>
                </a:solidFill>
                <a:latin typeface="Arial"/>
              </a:rPr>
              <a:t>&lt;head&gt; — For the Browser</a:t>
            </a:r>
          </a:p>
        </p:txBody>
      </p:sp>
      <p:sp>
        <p:nvSpPr>
          <p:cNvPr id="212" name="Google Shape;212;body"/>
          <p:cNvSpPr/>
          <p:nvPr/>
        </p:nvSpPr>
        <p:spPr>
          <a:xfrm>
            <a:off x="762000" y="1333500"/>
            <a:ext cx="34290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&lt;title&gt;  →  Tab title &amp; SEO snippet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&lt;meta charset&gt;  →  Character encoding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&lt;meta viewport&gt;  →  Mobile responsiveness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&lt;meta description&gt;  →  SEO search snippet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&lt;link </a:t>
            </a:r>
            <a:r>
              <a:rPr lang="en-US" sz="975" b="0" i="0" u="none" strike="noStrike" cap="none" dirty="0" err="1">
                <a:solidFill>
                  <a:srgbClr val="2C3E50"/>
                </a:solidFill>
                <a:latin typeface="Arial"/>
              </a:rPr>
              <a:t>rel</a:t>
            </a: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=</a:t>
            </a:r>
            <a:r>
              <a:rPr lang="en-US" sz="975" b="0" i="0" u="none" strike="noStrike" cap="none" dirty="0" err="1">
                <a:solidFill>
                  <a:srgbClr val="2C3E50"/>
                </a:solidFill>
                <a:latin typeface="Arial"/>
              </a:rPr>
              <a:t>stylesheet</a:t>
            </a: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&gt;  →  Attach CSS file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&lt;link </a:t>
            </a:r>
            <a:r>
              <a:rPr lang="en-US" sz="975" b="0" i="0" u="none" strike="noStrike" cap="none" dirty="0" err="1">
                <a:solidFill>
                  <a:srgbClr val="2C3E50"/>
                </a:solidFill>
                <a:latin typeface="Arial"/>
              </a:rPr>
              <a:t>rel</a:t>
            </a: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=icon&gt;  →  Favicon (tab icon)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&lt;script </a:t>
            </a:r>
            <a:r>
              <a:rPr lang="en-US" sz="975" b="0" i="0" u="none" strike="noStrike" cap="none" dirty="0" err="1">
                <a:solidFill>
                  <a:srgbClr val="2C3E50"/>
                </a:solidFill>
                <a:latin typeface="Arial"/>
              </a:rPr>
              <a:t>src</a:t>
            </a: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&gt;  →  JavaScript files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&lt;meta </a:t>
            </a:r>
            <a:r>
              <a:rPr lang="en-US" sz="975" b="0" i="0" u="none" strike="noStrike" cap="none" dirty="0" err="1">
                <a:solidFill>
                  <a:srgbClr val="2C3E50"/>
                </a:solidFill>
                <a:latin typeface="Arial"/>
              </a:rPr>
              <a:t>og</a:t>
            </a:r>
            <a:r>
              <a:rPr lang="en-US" sz="975" b="0" i="0" u="none" strike="noStrike" cap="none" dirty="0">
                <a:solidFill>
                  <a:srgbClr val="2C3E50"/>
                </a:solidFill>
                <a:latin typeface="Arial"/>
              </a:rPr>
              <a:t>:...&gt;  →  Social media previews</a:t>
            </a:r>
          </a:p>
        </p:txBody>
      </p:sp>
      <p:sp>
        <p:nvSpPr>
          <p:cNvPr id="220" name="Google Shape;220;card"/>
          <p:cNvSpPr/>
          <p:nvPr/>
        </p:nvSpPr>
        <p:spPr>
          <a:xfrm>
            <a:off x="4762500" y="933450"/>
            <a:ext cx="3810000" cy="3048000"/>
          </a:xfrm>
          <a:prstGeom prst="roundRect">
            <a:avLst>
              <a:gd name="adj" fmla="val 8457"/>
            </a:avLst>
          </a:prstGeom>
          <a:solidFill>
            <a:srgbClr val="F0F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221" name="Google Shape;221;body"/>
          <p:cNvSpPr/>
          <p:nvPr/>
        </p:nvSpPr>
        <p:spPr>
          <a:xfrm>
            <a:off x="4953000" y="990600"/>
            <a:ext cx="3429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27AE60"/>
                </a:solidFill>
                <a:latin typeface="Arial"/>
              </a:rPr>
              <a:t>&lt;body&gt; — For the User</a:t>
            </a:r>
          </a:p>
        </p:txBody>
      </p:sp>
      <p:sp>
        <p:nvSpPr>
          <p:cNvPr id="222" name="Google Shape;222;body"/>
          <p:cNvSpPr/>
          <p:nvPr/>
        </p:nvSpPr>
        <p:spPr>
          <a:xfrm>
            <a:off x="4953000" y="1333500"/>
            <a:ext cx="3429000" cy="2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&lt;h1&gt;–&lt;h6&gt;  →  Headings and titles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&lt;p&gt;  →  Paragraphs of text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&lt;img&gt;, &lt;video&gt;  →  Media content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&lt;a&gt;  →  Clickable links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&lt;form&gt;  →  User input fields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&lt;nav&gt;, &lt;header&gt;  →  Page structure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&lt;div&gt;, &lt;span&gt;  →  Layout containers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&lt;table&gt;  →  Tabular data</a:t>
            </a:r>
          </a:p>
        </p:txBody>
      </p:sp>
      <p:sp>
        <p:nvSpPr>
          <p:cNvPr id="230" name="Google Shape;230;card"/>
          <p:cNvSpPr/>
          <p:nvPr/>
        </p:nvSpPr>
        <p:spPr>
          <a:xfrm>
            <a:off x="571500" y="4093800"/>
            <a:ext cx="8001000" cy="571500"/>
          </a:xfrm>
          <a:prstGeom prst="roundRect">
            <a:avLst>
              <a:gd name="adj" fmla="val 8457"/>
            </a:avLst>
          </a:prstGeom>
          <a:solidFill>
            <a:srgbClr val="FFF9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231" name="Google Shape;231;ybar"/>
          <p:cNvCxnSpPr/>
          <p:nvPr/>
        </p:nvCxnSpPr>
        <p:spPr>
          <a:xfrm>
            <a:off x="590550" y="4093800"/>
            <a:ext cx="0" cy="571500"/>
          </a:xfrm>
          <a:prstGeom prst="straightConnector1">
            <a:avLst/>
          </a:prstGeom>
          <a:noFill/>
          <a:ln w="381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2" name="Google Shape;232;body"/>
          <p:cNvSpPr/>
          <p:nvPr/>
        </p:nvSpPr>
        <p:spPr>
          <a:xfrm>
            <a:off x="781050" y="4236300"/>
            <a:ext cx="777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2C3E50"/>
                </a:solidFill>
                <a:latin typeface="Arial"/>
              </a:rPr>
              <a:t>The &lt;head&gt; is invisible to users. Everything in &lt;body&gt; is what the user actually sees and interacts with.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4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4"/>
          <p:cNvSpPr/>
          <p:nvPr/>
        </p:nvSpPr>
        <p:spPr>
          <a:xfrm>
            <a:off x="857250" y="342900"/>
            <a:ext cx="51977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Essential HTML Elements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71500" y="933450"/>
            <a:ext cx="3924300" cy="901005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62000" y="1085850"/>
            <a:ext cx="36141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25"/>
              <a:buFont typeface="Courier New"/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&lt;h1&gt; to &lt;h6&gt;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62000" y="1495425"/>
            <a:ext cx="3614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Headings (h1 most important)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648200" y="933450"/>
            <a:ext cx="3924300" cy="901005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838700" y="1085850"/>
            <a:ext cx="36141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25"/>
              <a:buFont typeface="Courier New"/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&lt;p&gt;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838700" y="1495425"/>
            <a:ext cx="3614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Paragraphs for text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71500" y="1948755"/>
            <a:ext cx="3924300" cy="901005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62000" y="2101155"/>
            <a:ext cx="36141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25"/>
              <a:buFont typeface="Courier New"/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&lt;strong&gt;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62000" y="2510730"/>
            <a:ext cx="3614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Important (bold)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648200" y="1948755"/>
            <a:ext cx="3924300" cy="901005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838700" y="2101155"/>
            <a:ext cx="36141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25"/>
              <a:buFont typeface="Courier New"/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&lt;em&gt;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838700" y="2510730"/>
            <a:ext cx="3614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Emphasis (italic)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71500" y="2964061"/>
            <a:ext cx="3924300" cy="901005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762000" y="3116461"/>
            <a:ext cx="36141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25"/>
              <a:buFont typeface="Courier New"/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href="..."&gt;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62000" y="3526036"/>
            <a:ext cx="3614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Links to other pages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648200" y="2964061"/>
            <a:ext cx="3924300" cy="901005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838700" y="3116461"/>
            <a:ext cx="36141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25"/>
              <a:buFont typeface="Courier New"/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&lt;img src="..."&gt;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838700" y="3526036"/>
            <a:ext cx="3614166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71500" y="4055566"/>
            <a:ext cx="8001000" cy="571500"/>
          </a:xfrm>
          <a:prstGeom prst="roundRect">
            <a:avLst>
              <a:gd name="adj" fmla="val 13333"/>
            </a:avLst>
          </a:prstGeom>
          <a:solidFill>
            <a:srgbClr val="FFF9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4"/>
          <p:cNvCxnSpPr/>
          <p:nvPr/>
        </p:nvCxnSpPr>
        <p:spPr>
          <a:xfrm>
            <a:off x="590550" y="4055566"/>
            <a:ext cx="0" cy="571500"/>
          </a:xfrm>
          <a:prstGeom prst="straightConnector1">
            <a:avLst/>
          </a:prstGeom>
          <a:noFill/>
          <a:ln w="381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4"/>
          <p:cNvSpPr/>
          <p:nvPr/>
        </p:nvSpPr>
        <p:spPr>
          <a:xfrm>
            <a:off x="781050" y="4227016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Remember:</a:t>
            </a: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Choose elements based on meaning, not appearance. Use CSS for styling!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6927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5"/>
          <p:cNvSpPr/>
          <p:nvPr/>
        </p:nvSpPr>
        <p:spPr>
          <a:xfrm>
            <a:off x="857250" y="342900"/>
            <a:ext cx="39444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Lists in HTML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71500" y="933450"/>
            <a:ext cx="3619500" cy="1927324"/>
          </a:xfrm>
          <a:prstGeom prst="roundRect">
            <a:avLst>
              <a:gd name="adj" fmla="val 3954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42950" y="1104900"/>
            <a:ext cx="334213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Unordered Lists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42950" y="1447800"/>
            <a:ext cx="3276600" cy="959644"/>
          </a:xfrm>
          <a:prstGeom prst="roundRect">
            <a:avLst>
              <a:gd name="adj" fmla="val 5955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876300" y="1581150"/>
            <a:ext cx="3070098" cy="692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&lt;li&gt;Coffee&lt;/li&gt;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&lt;li&gt;Tea&lt;/li&gt;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&lt;/ul&gt;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742950" y="2502694"/>
            <a:ext cx="3342132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For items where order doesn't matter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71500" y="3127474"/>
            <a:ext cx="3619500" cy="1927324"/>
          </a:xfrm>
          <a:prstGeom prst="roundRect">
            <a:avLst>
              <a:gd name="adj" fmla="val 3954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42950" y="3298924"/>
            <a:ext cx="334213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Ordered Lists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42950" y="3641824"/>
            <a:ext cx="3276600" cy="959644"/>
          </a:xfrm>
          <a:prstGeom prst="roundRect">
            <a:avLst>
              <a:gd name="adj" fmla="val 5955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876300" y="3775174"/>
            <a:ext cx="3070098" cy="692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&lt;ol&gt;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&lt;li&gt;Step 1&lt;/li&gt;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&lt;li&gt;Step 2&lt;/li&gt;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&lt;/ol&gt;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42950" y="4696718"/>
            <a:ext cx="3342132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For sequential items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 descr="/tmp/rasterized-gradient-b79162ff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9600" y="2169021"/>
            <a:ext cx="4152900" cy="165020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5393341" y="2435721"/>
            <a:ext cx="2205419" cy="275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112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to Use Each</a:t>
            </a:r>
            <a:endParaRPr sz="1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4802669" y="2901255"/>
            <a:ext cx="3386763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Unordered: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Shopping lists, features, menu items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802669" y="3293566"/>
            <a:ext cx="3386763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Ordered:</a:t>
            </a:r>
            <a:r>
              <a:rPr lang="en-US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Instructions, rankings, steps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6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" name="Google Shape;135;p6"/>
          <p:cNvSpPr/>
          <p:nvPr/>
        </p:nvSpPr>
        <p:spPr>
          <a:xfrm>
            <a:off x="857250" y="342900"/>
            <a:ext cx="39444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Links &amp; Images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71500" y="933450"/>
            <a:ext cx="8001000" cy="1600051"/>
          </a:xfrm>
          <a:prstGeom prst="roundRect">
            <a:avLst>
              <a:gd name="adj" fmla="val 4762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81050" y="1143000"/>
            <a:ext cx="7733538" cy="251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Links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81050" y="1527721"/>
            <a:ext cx="7581900" cy="453330"/>
          </a:xfrm>
          <a:prstGeom prst="roundRect">
            <a:avLst>
              <a:gd name="adj" fmla="val 12607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914400" y="1661071"/>
            <a:ext cx="746150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&lt;a href="https://google.com"&gt;Visit Google&lt;/a&gt;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781050" y="2095351"/>
            <a:ext cx="77335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25"/>
              <a:buFont typeface="Arial"/>
              <a:buNone/>
            </a:pP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125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href</a:t>
            </a: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attribute tells the browser where to go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571500" y="2704951"/>
            <a:ext cx="8001000" cy="1600051"/>
          </a:xfrm>
          <a:prstGeom prst="roundRect">
            <a:avLst>
              <a:gd name="adj" fmla="val 4762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81050" y="2914501"/>
            <a:ext cx="7733538" cy="251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650"/>
              <a:buFont typeface="Arial"/>
              <a:buNone/>
            </a:pPr>
            <a:r>
              <a:rPr lang="en-US" sz="165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781050" y="3299222"/>
            <a:ext cx="7581900" cy="453330"/>
          </a:xfrm>
          <a:prstGeom prst="roundRect">
            <a:avLst>
              <a:gd name="adj" fmla="val 12607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914400" y="3432572"/>
            <a:ext cx="7461504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&lt;img src="photo.jpg" alt="Beach sunset"&gt;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81050" y="3866852"/>
            <a:ext cx="7733538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src</a:t>
            </a: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specifies the image location • </a:t>
            </a:r>
            <a:r>
              <a:rPr lang="en-US" sz="1125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lang="en-US" sz="112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describes the image for accessibility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71500" y="4476452"/>
            <a:ext cx="8001000" cy="518071"/>
          </a:xfrm>
          <a:prstGeom prst="roundRect">
            <a:avLst>
              <a:gd name="adj" fmla="val 14708"/>
            </a:avLst>
          </a:prstGeom>
          <a:solidFill>
            <a:srgbClr val="FFF9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590550" y="4476452"/>
            <a:ext cx="0" cy="518071"/>
          </a:xfrm>
          <a:prstGeom prst="straightConnector1">
            <a:avLst/>
          </a:prstGeom>
          <a:noFill/>
          <a:ln w="381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6"/>
          <p:cNvSpPr/>
          <p:nvPr/>
        </p:nvSpPr>
        <p:spPr>
          <a:xfrm>
            <a:off x="762000" y="4628852"/>
            <a:ext cx="7811262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Tip:</a:t>
            </a: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Always include alt text for images. It helps screen readers and shows if image fails to load.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7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6" name="Google Shape;156;p7"/>
          <p:cNvSpPr/>
          <p:nvPr/>
        </p:nvSpPr>
        <p:spPr>
          <a:xfrm>
            <a:off x="857250" y="342900"/>
            <a:ext cx="39444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HTML Attributes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71500" y="933450"/>
            <a:ext cx="8161020" cy="258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75"/>
              <a:buFont typeface="Arial"/>
              <a:buNone/>
            </a:pPr>
            <a:r>
              <a:rPr lang="en-US" sz="127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Attributes provide extra information about elements and appear inside the opening tag.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571500" y="1382911"/>
            <a:ext cx="8001000" cy="1086594"/>
          </a:xfrm>
          <a:prstGeom prst="roundRect">
            <a:avLst>
              <a:gd name="adj" fmla="val 7013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781050" y="1554361"/>
            <a:ext cx="773353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CLASS ATTRIBUTE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781050" y="1803797"/>
            <a:ext cx="7733538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lang="en-US" sz="1200" b="0" i="0" u="none" strike="noStrike" cap="non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200" b="0" i="0" u="none" strike="noStrike" cap="none">
                <a:solidFill>
                  <a:srgbClr val="27AE60"/>
                </a:solidFill>
                <a:latin typeface="Courier New"/>
                <a:ea typeface="Courier New"/>
                <a:cs typeface="Courier New"/>
                <a:sym typeface="Courier New"/>
              </a:rPr>
              <a:t>"intro"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&gt;Text&lt;/p&gt;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81050" y="2112318"/>
            <a:ext cx="773353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Used for applying CSS styles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71500" y="2602855"/>
            <a:ext cx="8001000" cy="1086594"/>
          </a:xfrm>
          <a:prstGeom prst="roundRect">
            <a:avLst>
              <a:gd name="adj" fmla="val 7013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81050" y="2774305"/>
            <a:ext cx="773353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ID ATTRIBUTE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81050" y="3023741"/>
            <a:ext cx="7733538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&lt;div </a:t>
            </a:r>
            <a:r>
              <a:rPr lang="en-US" sz="1200" b="0" i="0" u="none" strike="noStrike" cap="non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200" b="0" i="0" u="none" strike="noStrike" cap="none">
                <a:solidFill>
                  <a:srgbClr val="27AE60"/>
                </a:solidFill>
                <a:latin typeface="Courier New"/>
                <a:ea typeface="Courier New"/>
                <a:cs typeface="Courier New"/>
                <a:sym typeface="Courier New"/>
              </a:rPr>
              <a:t>"header"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&gt;...&lt;/div&gt;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781050" y="3332262"/>
            <a:ext cx="773353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Unique identifier (only one per page)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571500" y="3822799"/>
            <a:ext cx="8001000" cy="1086594"/>
          </a:xfrm>
          <a:prstGeom prst="roundRect">
            <a:avLst>
              <a:gd name="adj" fmla="val 7013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81050" y="3994249"/>
            <a:ext cx="7733538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TITLE ATTRIBUTE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781050" y="4243685"/>
            <a:ext cx="7733538" cy="213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ourier New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&lt;p </a:t>
            </a:r>
            <a:r>
              <a:rPr lang="en-US" sz="1200" b="0" i="0" u="none" strike="noStrike" cap="none">
                <a:solidFill>
                  <a:srgbClr val="F39C12"/>
                </a:solidFill>
                <a:latin typeface="Courier New"/>
                <a:ea typeface="Courier New"/>
                <a:cs typeface="Courier New"/>
                <a:sym typeface="Courier New"/>
              </a:rPr>
              <a:t>title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US" sz="1200" b="0" i="0" u="none" strike="noStrike" cap="none">
                <a:solidFill>
                  <a:srgbClr val="27AE60"/>
                </a:solidFill>
                <a:latin typeface="Courier New"/>
                <a:ea typeface="Courier New"/>
                <a:cs typeface="Courier New"/>
                <a:sym typeface="Courier New"/>
              </a:rPr>
              <a:t>"More info"</a:t>
            </a:r>
            <a:r>
              <a:rPr lang="en-US" sz="120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&gt;Text&lt;/p&gt;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781050" y="4552206"/>
            <a:ext cx="7733538" cy="185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51"/>
              </a:lnSpc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7F8C8D"/>
                </a:solidFill>
                <a:latin typeface="Arial"/>
                <a:ea typeface="Arial"/>
                <a:cs typeface="Arial"/>
                <a:sym typeface="Arial"/>
              </a:rPr>
              <a:t>Shows as tooltip on hover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bg10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101" name="bar101"/>
          <p:cNvCxnSpPr/>
          <p:nvPr/>
        </p:nvCxnSpPr>
        <p:spPr>
          <a:xfrm>
            <a:off x="457200" y="341168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txt102"/>
          <p:cNvSpPr/>
          <p:nvPr/>
        </p:nvSpPr>
        <p:spPr>
          <a:xfrm>
            <a:off x="800100" y="133350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C0392B"/>
                </a:solidFill>
                <a:latin typeface="Arial"/>
              </a:rPr>
              <a:t>What is Web Accessibility?</a:t>
            </a:r>
          </a:p>
        </p:txBody>
      </p:sp>
      <p:sp>
        <p:nvSpPr>
          <p:cNvPr id="110" name="card110"/>
          <p:cNvSpPr/>
          <p:nvPr/>
        </p:nvSpPr>
        <p:spPr>
          <a:xfrm>
            <a:off x="436418" y="826076"/>
            <a:ext cx="8229600" cy="1002273"/>
          </a:xfrm>
          <a:prstGeom prst="roundRect">
            <a:avLst>
              <a:gd name="adj" fmla="val 5000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111" name="bar111"/>
          <p:cNvCxnSpPr/>
          <p:nvPr/>
        </p:nvCxnSpPr>
        <p:spPr>
          <a:xfrm>
            <a:off x="455468" y="826077"/>
            <a:ext cx="0" cy="81915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2" name="txt112"/>
          <p:cNvSpPr/>
          <p:nvPr/>
        </p:nvSpPr>
        <p:spPr>
          <a:xfrm>
            <a:off x="646718" y="883227"/>
            <a:ext cx="7772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Arial"/>
              </a:rPr>
              <a:t>Definition</a:t>
            </a:r>
          </a:p>
        </p:txBody>
      </p:sp>
      <p:sp>
        <p:nvSpPr>
          <p:cNvPr id="113" name="txt113"/>
          <p:cNvSpPr/>
          <p:nvPr/>
        </p:nvSpPr>
        <p:spPr>
          <a:xfrm>
            <a:off x="646718" y="1188027"/>
            <a:ext cx="7620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2C3E50"/>
                </a:solidFill>
                <a:latin typeface="Arial"/>
              </a:rPr>
              <a:t>Web accessibility means designing and building websites that everyone can use — including people with visual, auditory, motor, or cognitive disabilities.</a:t>
            </a:r>
          </a:p>
        </p:txBody>
      </p:sp>
      <p:sp>
        <p:nvSpPr>
          <p:cNvPr id="120" name="txt120"/>
          <p:cNvSpPr/>
          <p:nvPr/>
        </p:nvSpPr>
        <p:spPr>
          <a:xfrm>
            <a:off x="457200" y="1866900"/>
            <a:ext cx="8229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2C3E50"/>
                </a:solidFill>
                <a:latin typeface="Arial"/>
              </a:rPr>
              <a:t>Who benefits from accessible websites?</a:t>
            </a:r>
          </a:p>
        </p:txBody>
      </p:sp>
      <p:sp>
        <p:nvSpPr>
          <p:cNvPr id="130" name="card130"/>
          <p:cNvSpPr/>
          <p:nvPr/>
        </p:nvSpPr>
        <p:spPr>
          <a:xfrm>
            <a:off x="457200" y="2209800"/>
            <a:ext cx="4038600" cy="12573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1" name="txt131"/>
          <p:cNvSpPr/>
          <p:nvPr/>
        </p:nvSpPr>
        <p:spPr>
          <a:xfrm>
            <a:off x="571500" y="22479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A5276"/>
                </a:solidFill>
                <a:latin typeface="Arial"/>
              </a:rPr>
              <a:t>👁  Visual</a:t>
            </a:r>
          </a:p>
        </p:txBody>
      </p:sp>
      <p:sp>
        <p:nvSpPr>
          <p:cNvPr id="132" name="txt132"/>
          <p:cNvSpPr/>
          <p:nvPr/>
        </p:nvSpPr>
        <p:spPr>
          <a:xfrm>
            <a:off x="571500" y="2609850"/>
            <a:ext cx="381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Blind users rely on screen readers that read HTML aloud. Low-vision users need high contrast and scalable text.</a:t>
            </a:r>
          </a:p>
        </p:txBody>
      </p:sp>
      <p:sp>
        <p:nvSpPr>
          <p:cNvPr id="134" name="card134"/>
          <p:cNvSpPr/>
          <p:nvPr/>
        </p:nvSpPr>
        <p:spPr>
          <a:xfrm>
            <a:off x="4724400" y="2209800"/>
            <a:ext cx="4038600" cy="1257300"/>
          </a:xfrm>
          <a:prstGeom prst="roundRect">
            <a:avLst>
              <a:gd name="adj" fmla="val 6000"/>
            </a:avLst>
          </a:prstGeom>
          <a:solidFill>
            <a:srgbClr val="E9F7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5" name="txt135"/>
          <p:cNvSpPr/>
          <p:nvPr/>
        </p:nvSpPr>
        <p:spPr>
          <a:xfrm>
            <a:off x="4838700" y="22479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8449"/>
                </a:solidFill>
                <a:latin typeface="Arial"/>
              </a:rPr>
              <a:t>👂  Auditory</a:t>
            </a:r>
          </a:p>
        </p:txBody>
      </p:sp>
      <p:sp>
        <p:nvSpPr>
          <p:cNvPr id="136" name="txt136"/>
          <p:cNvSpPr/>
          <p:nvPr/>
        </p:nvSpPr>
        <p:spPr>
          <a:xfrm>
            <a:off x="4838700" y="2609850"/>
            <a:ext cx="381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Deaf users need captions on video and audio content. They can't rely on sound for information.</a:t>
            </a:r>
          </a:p>
        </p:txBody>
      </p:sp>
      <p:sp>
        <p:nvSpPr>
          <p:cNvPr id="138" name="card138"/>
          <p:cNvSpPr/>
          <p:nvPr/>
        </p:nvSpPr>
        <p:spPr>
          <a:xfrm>
            <a:off x="457200" y="3505200"/>
            <a:ext cx="4038600" cy="1257300"/>
          </a:xfrm>
          <a:prstGeom prst="roundRect">
            <a:avLst>
              <a:gd name="adj" fmla="val 6000"/>
            </a:avLst>
          </a:prstGeom>
          <a:solidFill>
            <a:srgbClr val="FEF9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39" name="txt139"/>
          <p:cNvSpPr/>
          <p:nvPr/>
        </p:nvSpPr>
        <p:spPr>
          <a:xfrm>
            <a:off x="571500" y="36195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7D6608"/>
                </a:solidFill>
                <a:latin typeface="Arial"/>
              </a:rPr>
              <a:t>🖱  Motor</a:t>
            </a:r>
          </a:p>
        </p:txBody>
      </p:sp>
      <p:sp>
        <p:nvSpPr>
          <p:cNvPr id="140" name="txt140"/>
          <p:cNvSpPr/>
          <p:nvPr/>
        </p:nvSpPr>
        <p:spPr>
          <a:xfrm>
            <a:off x="571500" y="3981450"/>
            <a:ext cx="381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Users with limited hand control navigate by keyboard only — no mouse. Every element must be keyboard-reachable.</a:t>
            </a:r>
          </a:p>
        </p:txBody>
      </p:sp>
      <p:sp>
        <p:nvSpPr>
          <p:cNvPr id="142" name="card142"/>
          <p:cNvSpPr/>
          <p:nvPr/>
        </p:nvSpPr>
        <p:spPr>
          <a:xfrm>
            <a:off x="4724400" y="3505200"/>
            <a:ext cx="4038600" cy="12573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43" name="txt143"/>
          <p:cNvSpPr/>
          <p:nvPr/>
        </p:nvSpPr>
        <p:spPr>
          <a:xfrm>
            <a:off x="4838700" y="361950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22B21"/>
                </a:solidFill>
                <a:latin typeface="Arial"/>
              </a:rPr>
              <a:t>🧠  Cognitive</a:t>
            </a:r>
          </a:p>
        </p:txBody>
      </p:sp>
      <p:sp>
        <p:nvSpPr>
          <p:cNvPr id="144" name="txt144"/>
          <p:cNvSpPr/>
          <p:nvPr/>
        </p:nvSpPr>
        <p:spPr>
          <a:xfrm>
            <a:off x="4838700" y="3981450"/>
            <a:ext cx="38100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Users with dyslexia or ADHD benefit from clear layouts, plain language, and consistent navigation.</a:t>
            </a:r>
          </a:p>
        </p:txBody>
      </p:sp>
      <p:sp>
        <p:nvSpPr>
          <p:cNvPr id="150" name="card150"/>
          <p:cNvSpPr/>
          <p:nvPr/>
        </p:nvSpPr>
        <p:spPr>
          <a:xfrm>
            <a:off x="457200" y="4914450"/>
            <a:ext cx="8229600" cy="190500"/>
          </a:xfrm>
          <a:prstGeom prst="roundRect">
            <a:avLst>
              <a:gd name="adj" fmla="val 3000"/>
            </a:avLst>
          </a:prstGeom>
          <a:solidFill>
            <a:srgbClr val="F9EB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151" name="txt151"/>
          <p:cNvSpPr/>
          <p:nvPr/>
        </p:nvSpPr>
        <p:spPr>
          <a:xfrm>
            <a:off x="571500" y="4933500"/>
            <a:ext cx="80010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</a:rPr>
              <a:t>💡  1 in 4 adults has some form of disability. Accessible sites are also better for SEO, usability, and legal compliance.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1" name="Google Shape;601;bar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2" name="Google Shape;602;title"/>
          <p:cNvSpPr/>
          <p:nvPr/>
        </p:nvSpPr>
        <p:spPr>
          <a:xfrm>
            <a:off x="857250" y="342900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</a:rPr>
              <a:t>Accessibility Best Practices</a:t>
            </a:r>
          </a:p>
        </p:txBody>
      </p:sp>
      <p:sp>
        <p:nvSpPr>
          <p:cNvPr id="603" name="Google Shape;603;body"/>
          <p:cNvSpPr/>
          <p:nvPr/>
        </p:nvSpPr>
        <p:spPr>
          <a:xfrm>
            <a:off x="857250" y="8001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7F8C8D"/>
                </a:solidFill>
                <a:latin typeface="Arial"/>
              </a:rPr>
              <a:t>Building for everyone — accessibility is not an afterthought</a:t>
            </a:r>
          </a:p>
        </p:txBody>
      </p:sp>
      <p:sp>
        <p:nvSpPr>
          <p:cNvPr id="610" name="Google Shape;610;card"/>
          <p:cNvSpPr/>
          <p:nvPr/>
        </p:nvSpPr>
        <p:spPr>
          <a:xfrm>
            <a:off x="457200" y="1105275"/>
            <a:ext cx="3962400" cy="12573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1" name="Google Shape;611;body"/>
          <p:cNvSpPr/>
          <p:nvPr/>
        </p:nvSpPr>
        <p:spPr>
          <a:xfrm>
            <a:off x="647700" y="1219575"/>
            <a:ext cx="3581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Arial"/>
              </a:rPr>
              <a:t>alt Text on Images</a:t>
            </a:r>
          </a:p>
        </p:txBody>
      </p:sp>
      <p:sp>
        <p:nvSpPr>
          <p:cNvPr id="612" name="Google Shape;612;card"/>
          <p:cNvSpPr/>
          <p:nvPr/>
        </p:nvSpPr>
        <p:spPr>
          <a:xfrm>
            <a:off x="647700" y="1505325"/>
            <a:ext cx="3581400" cy="40005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13" name="Google Shape;613;code"/>
          <p:cNvSpPr/>
          <p:nvPr/>
        </p:nvSpPr>
        <p:spPr>
          <a:xfrm>
            <a:off x="704850" y="1552875"/>
            <a:ext cx="3486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&lt;img src="photo.jpg" alt="Team at office"&gt;</a:t>
            </a:r>
          </a:p>
        </p:txBody>
      </p:sp>
      <p:sp>
        <p:nvSpPr>
          <p:cNvPr id="614" name="Google Shape;614;body"/>
          <p:cNvSpPr/>
          <p:nvPr/>
        </p:nvSpPr>
        <p:spPr>
          <a:xfrm>
            <a:off x="647700" y="1943625"/>
            <a:ext cx="3581400" cy="38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Arial"/>
              </a:rPr>
              <a:t>Every &lt;img&gt; needs descriptive alt text. Screen readers read this aloud. Decorative images use alt="".</a:t>
            </a:r>
          </a:p>
        </p:txBody>
      </p:sp>
      <p:sp>
        <p:nvSpPr>
          <p:cNvPr id="620" name="Google Shape;620;card"/>
          <p:cNvSpPr/>
          <p:nvPr/>
        </p:nvSpPr>
        <p:spPr>
          <a:xfrm>
            <a:off x="4686750" y="1105275"/>
            <a:ext cx="3962400" cy="12573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1" name="Google Shape;621;body"/>
          <p:cNvSpPr/>
          <p:nvPr/>
        </p:nvSpPr>
        <p:spPr>
          <a:xfrm>
            <a:off x="4877250" y="1219575"/>
            <a:ext cx="3581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Arial"/>
              </a:rPr>
              <a:t>Label Every Form Input</a:t>
            </a:r>
          </a:p>
        </p:txBody>
      </p:sp>
      <p:sp>
        <p:nvSpPr>
          <p:cNvPr id="622" name="Google Shape;622;card"/>
          <p:cNvSpPr/>
          <p:nvPr/>
        </p:nvSpPr>
        <p:spPr>
          <a:xfrm>
            <a:off x="4877250" y="1505325"/>
            <a:ext cx="3581400" cy="40005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23" name="Google Shape;623;code"/>
          <p:cNvSpPr/>
          <p:nvPr/>
        </p:nvSpPr>
        <p:spPr>
          <a:xfrm>
            <a:off x="4934400" y="1552875"/>
            <a:ext cx="3486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&lt;label for="email"&gt;Email&lt;/label&gt;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&lt;input id="email" type="email"&gt;</a:t>
            </a:r>
          </a:p>
        </p:txBody>
      </p:sp>
      <p:sp>
        <p:nvSpPr>
          <p:cNvPr id="624" name="Google Shape;624;body"/>
          <p:cNvSpPr/>
          <p:nvPr/>
        </p:nvSpPr>
        <p:spPr>
          <a:xfrm>
            <a:off x="4877250" y="1943625"/>
            <a:ext cx="3581400" cy="38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Arial"/>
              </a:rPr>
              <a:t>Always link &lt;label for&gt; to &lt;input id&gt;. Never use placeholder as a substitute for labels.</a:t>
            </a:r>
          </a:p>
        </p:txBody>
      </p:sp>
      <p:sp>
        <p:nvSpPr>
          <p:cNvPr id="630" name="Google Shape;630;card"/>
          <p:cNvSpPr/>
          <p:nvPr/>
        </p:nvSpPr>
        <p:spPr>
          <a:xfrm>
            <a:off x="457200" y="2476875"/>
            <a:ext cx="3962400" cy="12573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1" name="Google Shape;631;body"/>
          <p:cNvSpPr/>
          <p:nvPr/>
        </p:nvSpPr>
        <p:spPr>
          <a:xfrm>
            <a:off x="647700" y="2591175"/>
            <a:ext cx="3581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Arial"/>
              </a:rPr>
              <a:t>Semantic Heading Order</a:t>
            </a:r>
          </a:p>
        </p:txBody>
      </p:sp>
      <p:sp>
        <p:nvSpPr>
          <p:cNvPr id="632" name="Google Shape;632;card"/>
          <p:cNvSpPr/>
          <p:nvPr/>
        </p:nvSpPr>
        <p:spPr>
          <a:xfrm>
            <a:off x="647700" y="2876925"/>
            <a:ext cx="3581400" cy="40005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33" name="Google Shape;633;code"/>
          <p:cNvSpPr/>
          <p:nvPr/>
        </p:nvSpPr>
        <p:spPr>
          <a:xfrm>
            <a:off x="704850" y="2924475"/>
            <a:ext cx="3486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h1 → h2 → h3 (never skip levels)</a:t>
            </a:r>
          </a:p>
        </p:txBody>
      </p:sp>
      <p:sp>
        <p:nvSpPr>
          <p:cNvPr id="634" name="Google Shape;634;body"/>
          <p:cNvSpPr/>
          <p:nvPr/>
        </p:nvSpPr>
        <p:spPr>
          <a:xfrm>
            <a:off x="647700" y="3315225"/>
            <a:ext cx="3581400" cy="38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Arial"/>
              </a:rPr>
              <a:t>Use headings in order. Screen readers use headings as a table of contents to navigate the page.</a:t>
            </a:r>
          </a:p>
        </p:txBody>
      </p:sp>
      <p:sp>
        <p:nvSpPr>
          <p:cNvPr id="640" name="Google Shape;640;card"/>
          <p:cNvSpPr/>
          <p:nvPr/>
        </p:nvSpPr>
        <p:spPr>
          <a:xfrm>
            <a:off x="4686750" y="2476875"/>
            <a:ext cx="3962400" cy="12573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1" name="Google Shape;641;body"/>
          <p:cNvSpPr/>
          <p:nvPr/>
        </p:nvSpPr>
        <p:spPr>
          <a:xfrm>
            <a:off x="4877250" y="2591175"/>
            <a:ext cx="3581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Arial"/>
              </a:rPr>
              <a:t>Keyboard Navigation</a:t>
            </a:r>
          </a:p>
        </p:txBody>
      </p:sp>
      <p:sp>
        <p:nvSpPr>
          <p:cNvPr id="642" name="Google Shape;642;card"/>
          <p:cNvSpPr/>
          <p:nvPr/>
        </p:nvSpPr>
        <p:spPr>
          <a:xfrm>
            <a:off x="4877250" y="2876925"/>
            <a:ext cx="3581400" cy="40005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43" name="Google Shape;643;code"/>
          <p:cNvSpPr/>
          <p:nvPr/>
        </p:nvSpPr>
        <p:spPr>
          <a:xfrm>
            <a:off x="4934400" y="2924475"/>
            <a:ext cx="3486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&lt;button&gt;Submit&lt;/button&gt;  ✓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&lt;div onclick='...'&gt;Submit&lt;/div&gt;  ✗</a:t>
            </a:r>
          </a:p>
        </p:txBody>
      </p:sp>
      <p:sp>
        <p:nvSpPr>
          <p:cNvPr id="644" name="Google Shape;644;body"/>
          <p:cNvSpPr/>
          <p:nvPr/>
        </p:nvSpPr>
        <p:spPr>
          <a:xfrm>
            <a:off x="4877250" y="3315225"/>
            <a:ext cx="3581400" cy="38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Arial"/>
              </a:rPr>
              <a:t>All interactive elements must work with keyboard only. Use native HTML elements — &lt;button&gt;, &lt;a&gt;, &lt;input&gt;.</a:t>
            </a:r>
          </a:p>
        </p:txBody>
      </p:sp>
      <p:sp>
        <p:nvSpPr>
          <p:cNvPr id="650" name="Google Shape;650;card"/>
          <p:cNvSpPr/>
          <p:nvPr/>
        </p:nvSpPr>
        <p:spPr>
          <a:xfrm>
            <a:off x="457200" y="3848475"/>
            <a:ext cx="3962400" cy="12573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1" name="Google Shape;651;body"/>
          <p:cNvSpPr/>
          <p:nvPr/>
        </p:nvSpPr>
        <p:spPr>
          <a:xfrm>
            <a:off x="647700" y="3962775"/>
            <a:ext cx="3581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Arial"/>
              </a:rPr>
              <a:t>ARIA Roles &amp; Labels</a:t>
            </a:r>
          </a:p>
        </p:txBody>
      </p:sp>
      <p:sp>
        <p:nvSpPr>
          <p:cNvPr id="652" name="Google Shape;652;card"/>
          <p:cNvSpPr/>
          <p:nvPr/>
        </p:nvSpPr>
        <p:spPr>
          <a:xfrm>
            <a:off x="647700" y="4248525"/>
            <a:ext cx="3581400" cy="40005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53" name="Google Shape;653;code"/>
          <p:cNvSpPr/>
          <p:nvPr/>
        </p:nvSpPr>
        <p:spPr>
          <a:xfrm>
            <a:off x="704850" y="4296075"/>
            <a:ext cx="3486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&lt;nav aria-label="Main navigation"&gt;</a:t>
            </a:r>
          </a:p>
        </p:txBody>
      </p:sp>
      <p:sp>
        <p:nvSpPr>
          <p:cNvPr id="654" name="Google Shape;654;body"/>
          <p:cNvSpPr/>
          <p:nvPr/>
        </p:nvSpPr>
        <p:spPr>
          <a:xfrm>
            <a:off x="647700" y="4686825"/>
            <a:ext cx="3581400" cy="38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Arial"/>
              </a:rPr>
              <a:t>Use ARIA when native HTML semantics aren't enough. aria-label, aria-expanded, role="".</a:t>
            </a:r>
          </a:p>
        </p:txBody>
      </p:sp>
      <p:sp>
        <p:nvSpPr>
          <p:cNvPr id="660" name="Google Shape;660;card"/>
          <p:cNvSpPr/>
          <p:nvPr/>
        </p:nvSpPr>
        <p:spPr>
          <a:xfrm>
            <a:off x="4686750" y="3848475"/>
            <a:ext cx="3962400" cy="12573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1" name="Google Shape;661;body"/>
          <p:cNvSpPr/>
          <p:nvPr/>
        </p:nvSpPr>
        <p:spPr>
          <a:xfrm>
            <a:off x="4877250" y="3962775"/>
            <a:ext cx="35814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C0392B"/>
                </a:solidFill>
                <a:latin typeface="Arial"/>
              </a:rPr>
              <a:t>Color &amp; Contrast</a:t>
            </a:r>
          </a:p>
        </p:txBody>
      </p:sp>
      <p:sp>
        <p:nvSpPr>
          <p:cNvPr id="662" name="Google Shape;662;card"/>
          <p:cNvSpPr/>
          <p:nvPr/>
        </p:nvSpPr>
        <p:spPr>
          <a:xfrm>
            <a:off x="4877250" y="4248525"/>
            <a:ext cx="3581400" cy="400050"/>
          </a:xfrm>
          <a:prstGeom prst="roundRect">
            <a:avLst>
              <a:gd name="adj" fmla="val 4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663" name="Google Shape;663;code"/>
          <p:cNvSpPr/>
          <p:nvPr/>
        </p:nvSpPr>
        <p:spPr>
          <a:xfrm>
            <a:off x="4934400" y="4296075"/>
            <a:ext cx="3486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Min 4.5:1 ratio (WCAG AA)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 b="0" i="0" u="none" strike="noStrike" cap="none">
                <a:solidFill>
                  <a:srgbClr val="2980B9"/>
                </a:solidFill>
                <a:latin typeface="Courier New"/>
              </a:rPr>
              <a:t>Check: webaim.org/resources/contrastchecker</a:t>
            </a:r>
          </a:p>
        </p:txBody>
      </p:sp>
      <p:sp>
        <p:nvSpPr>
          <p:cNvPr id="664" name="Google Shape;664;body"/>
          <p:cNvSpPr/>
          <p:nvPr/>
        </p:nvSpPr>
        <p:spPr>
          <a:xfrm>
            <a:off x="4877250" y="4686825"/>
            <a:ext cx="3581400" cy="38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2C3E50"/>
                </a:solidFill>
                <a:latin typeface="Arial"/>
              </a:rPr>
              <a:t>Never convey information by color alone. Text must have sufficient contrast against its background.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1" name="Google Shape;301;bar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title"/>
          <p:cNvSpPr/>
          <p:nvPr/>
        </p:nvSpPr>
        <p:spPr>
          <a:xfrm>
            <a:off x="857250" y="342900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</a:rPr>
              <a:t>HTML5 Semantic Elements</a:t>
            </a:r>
          </a:p>
        </p:txBody>
      </p:sp>
      <p:sp>
        <p:nvSpPr>
          <p:cNvPr id="303" name="Google Shape;303;body"/>
          <p:cNvSpPr/>
          <p:nvPr/>
        </p:nvSpPr>
        <p:spPr>
          <a:xfrm>
            <a:off x="857250" y="8001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7F8C8D"/>
                </a:solidFill>
                <a:latin typeface="Arial"/>
              </a:rPr>
              <a:t>Use elements that describe their purpose — better for SEO, accessibility, and readability</a:t>
            </a:r>
          </a:p>
        </p:txBody>
      </p:sp>
      <p:sp>
        <p:nvSpPr>
          <p:cNvPr id="310" name="Google Shape;310;card"/>
          <p:cNvSpPr/>
          <p:nvPr/>
        </p:nvSpPr>
        <p:spPr>
          <a:xfrm>
            <a:off x="457200" y="1086450"/>
            <a:ext cx="3810000" cy="3886200"/>
          </a:xfrm>
          <a:prstGeom prst="roundRect">
            <a:avLst>
              <a:gd name="adj" fmla="val 3000"/>
            </a:avLst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0" name="Google Shape;320;card"/>
          <p:cNvSpPr/>
          <p:nvPr/>
        </p:nvSpPr>
        <p:spPr>
          <a:xfrm>
            <a:off x="571500" y="1162800"/>
            <a:ext cx="3581400" cy="4191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1" name="Google Shape;321;body"/>
          <p:cNvSpPr/>
          <p:nvPr/>
        </p:nvSpPr>
        <p:spPr>
          <a:xfrm>
            <a:off x="628650" y="1277100"/>
            <a:ext cx="3467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A5276"/>
                </a:solidFill>
                <a:latin typeface="Arial"/>
              </a:rPr>
              <a:t>&lt;header&gt;</a:t>
            </a:r>
          </a:p>
        </p:txBody>
      </p:sp>
      <p:sp>
        <p:nvSpPr>
          <p:cNvPr id="322" name="Google Shape;322;card"/>
          <p:cNvSpPr/>
          <p:nvPr/>
        </p:nvSpPr>
        <p:spPr>
          <a:xfrm>
            <a:off x="571500" y="1619025"/>
            <a:ext cx="3581400" cy="304800"/>
          </a:xfrm>
          <a:prstGeom prst="roundRect">
            <a:avLst>
              <a:gd name="adj" fmla="val 4000"/>
            </a:avLst>
          </a:prstGeom>
          <a:solidFill>
            <a:srgbClr val="D5F5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3" name="Google Shape;323;body"/>
          <p:cNvSpPr/>
          <p:nvPr/>
        </p:nvSpPr>
        <p:spPr>
          <a:xfrm>
            <a:off x="628650" y="1733325"/>
            <a:ext cx="3467100" cy="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E8449"/>
                </a:solidFill>
                <a:latin typeface="Arial"/>
              </a:rPr>
              <a:t>&lt;nav&gt;</a:t>
            </a:r>
          </a:p>
        </p:txBody>
      </p:sp>
      <p:sp>
        <p:nvSpPr>
          <p:cNvPr id="324" name="Google Shape;324;card"/>
          <p:cNvSpPr/>
          <p:nvPr/>
        </p:nvSpPr>
        <p:spPr>
          <a:xfrm>
            <a:off x="571500" y="1962225"/>
            <a:ext cx="2133600" cy="2362200"/>
          </a:xfrm>
          <a:prstGeom prst="roundRect">
            <a:avLst>
              <a:gd name="adj" fmla="val 4000"/>
            </a:avLst>
          </a:prstGeom>
          <a:solidFill>
            <a:srgbClr val="FDEBD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5" name="Google Shape;325;body"/>
          <p:cNvSpPr/>
          <p:nvPr/>
        </p:nvSpPr>
        <p:spPr>
          <a:xfrm>
            <a:off x="628650" y="2076525"/>
            <a:ext cx="20193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D35400"/>
                </a:solidFill>
                <a:latin typeface="Arial"/>
              </a:rPr>
              <a:t>&lt;main&gt;</a:t>
            </a:r>
          </a:p>
        </p:txBody>
      </p:sp>
      <p:sp>
        <p:nvSpPr>
          <p:cNvPr id="326" name="Google Shape;326;card"/>
          <p:cNvSpPr/>
          <p:nvPr/>
        </p:nvSpPr>
        <p:spPr>
          <a:xfrm>
            <a:off x="2743200" y="1962225"/>
            <a:ext cx="1409400" cy="2362200"/>
          </a:xfrm>
          <a:prstGeom prst="roundRect">
            <a:avLst>
              <a:gd name="adj" fmla="val 4000"/>
            </a:avLst>
          </a:prstGeom>
          <a:solidFill>
            <a:srgbClr val="F9EBE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7" name="Google Shape;327;body"/>
          <p:cNvSpPr/>
          <p:nvPr/>
        </p:nvSpPr>
        <p:spPr>
          <a:xfrm>
            <a:off x="2800350" y="2076525"/>
            <a:ext cx="129510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922B21"/>
                </a:solidFill>
                <a:latin typeface="Arial"/>
              </a:rPr>
              <a:t>&lt;aside&gt;</a:t>
            </a:r>
          </a:p>
        </p:txBody>
      </p:sp>
      <p:sp>
        <p:nvSpPr>
          <p:cNvPr id="328" name="Google Shape;328;card"/>
          <p:cNvSpPr/>
          <p:nvPr/>
        </p:nvSpPr>
        <p:spPr>
          <a:xfrm>
            <a:off x="571500" y="4352625"/>
            <a:ext cx="3581400" cy="419100"/>
          </a:xfrm>
          <a:prstGeom prst="roundRect">
            <a:avLst>
              <a:gd name="adj" fmla="val 4000"/>
            </a:avLst>
          </a:prstGeom>
          <a:solidFill>
            <a:srgbClr val="F2F3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29" name="Google Shape;329;body"/>
          <p:cNvSpPr/>
          <p:nvPr/>
        </p:nvSpPr>
        <p:spPr>
          <a:xfrm>
            <a:off x="628650" y="4466925"/>
            <a:ext cx="34671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566573"/>
                </a:solidFill>
                <a:latin typeface="Arial"/>
              </a:rPr>
              <a:t>&lt;footer&gt;</a:t>
            </a:r>
          </a:p>
        </p:txBody>
      </p:sp>
      <p:sp>
        <p:nvSpPr>
          <p:cNvPr id="330" name="Google Shape;330;card"/>
          <p:cNvSpPr/>
          <p:nvPr/>
        </p:nvSpPr>
        <p:spPr>
          <a:xfrm>
            <a:off x="609600" y="2019375"/>
            <a:ext cx="2057400" cy="990600"/>
          </a:xfrm>
          <a:prstGeom prst="roundRect">
            <a:avLst>
              <a:gd name="adj" fmla="val 4000"/>
            </a:avLst>
          </a:prstGeom>
          <a:solidFill>
            <a:srgbClr val="FAD7A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1" name="Google Shape;331;body"/>
          <p:cNvSpPr/>
          <p:nvPr/>
        </p:nvSpPr>
        <p:spPr>
          <a:xfrm>
            <a:off x="666750" y="2133675"/>
            <a:ext cx="1943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8E6B00"/>
                </a:solidFill>
                <a:latin typeface="Arial"/>
              </a:rPr>
              <a:t>&lt;article&gt;</a:t>
            </a:r>
          </a:p>
        </p:txBody>
      </p:sp>
      <p:sp>
        <p:nvSpPr>
          <p:cNvPr id="332" name="Google Shape;332;card"/>
          <p:cNvSpPr/>
          <p:nvPr/>
        </p:nvSpPr>
        <p:spPr>
          <a:xfrm>
            <a:off x="609600" y="3048000"/>
            <a:ext cx="2057400" cy="990600"/>
          </a:xfrm>
          <a:prstGeom prst="roundRect">
            <a:avLst>
              <a:gd name="adj" fmla="val 4000"/>
            </a:avLst>
          </a:prstGeom>
          <a:solidFill>
            <a:srgbClr val="A9D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333" name="Google Shape;333;body"/>
          <p:cNvSpPr/>
          <p:nvPr/>
        </p:nvSpPr>
        <p:spPr>
          <a:xfrm>
            <a:off x="666750" y="3162300"/>
            <a:ext cx="19431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B6B3A"/>
                </a:solidFill>
                <a:latin typeface="Arial"/>
              </a:rPr>
              <a:t>&lt;section&gt;</a:t>
            </a:r>
          </a:p>
        </p:txBody>
      </p:sp>
      <p:sp>
        <p:nvSpPr>
          <p:cNvPr id="340" name="Google Shape;340;body"/>
          <p:cNvSpPr/>
          <p:nvPr/>
        </p:nvSpPr>
        <p:spPr>
          <a:xfrm>
            <a:off x="4533450" y="10761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</a:rPr>
              <a:t>&lt;header&gt;</a:t>
            </a:r>
          </a:p>
        </p:txBody>
      </p:sp>
      <p:sp>
        <p:nvSpPr>
          <p:cNvPr id="341" name="Google Shape;341;body"/>
          <p:cNvSpPr/>
          <p:nvPr/>
        </p:nvSpPr>
        <p:spPr>
          <a:xfrm>
            <a:off x="6171450" y="10761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Top of page or section — logo, title, hero.</a:t>
            </a:r>
          </a:p>
        </p:txBody>
      </p:sp>
      <p:sp>
        <p:nvSpPr>
          <p:cNvPr id="342" name="Google Shape;342;body"/>
          <p:cNvSpPr/>
          <p:nvPr/>
        </p:nvSpPr>
        <p:spPr>
          <a:xfrm>
            <a:off x="4533450" y="16476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</a:rPr>
              <a:t>&lt;nav&gt;</a:t>
            </a:r>
          </a:p>
        </p:txBody>
      </p:sp>
      <p:sp>
        <p:nvSpPr>
          <p:cNvPr id="343" name="Google Shape;343;body"/>
          <p:cNvSpPr/>
          <p:nvPr/>
        </p:nvSpPr>
        <p:spPr>
          <a:xfrm>
            <a:off x="6171450" y="16476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Navigation links only — menus, breadcrumbs.</a:t>
            </a:r>
          </a:p>
        </p:txBody>
      </p:sp>
      <p:sp>
        <p:nvSpPr>
          <p:cNvPr id="344" name="Google Shape;344;body"/>
          <p:cNvSpPr/>
          <p:nvPr/>
        </p:nvSpPr>
        <p:spPr>
          <a:xfrm>
            <a:off x="4533450" y="22191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</a:rPr>
              <a:t>&lt;main&gt;</a:t>
            </a:r>
          </a:p>
        </p:txBody>
      </p:sp>
      <p:sp>
        <p:nvSpPr>
          <p:cNvPr id="345" name="Google Shape;345;body"/>
          <p:cNvSpPr/>
          <p:nvPr/>
        </p:nvSpPr>
        <p:spPr>
          <a:xfrm>
            <a:off x="6171450" y="22191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Primary content. Only ONE per page.</a:t>
            </a:r>
          </a:p>
        </p:txBody>
      </p:sp>
      <p:sp>
        <p:nvSpPr>
          <p:cNvPr id="346" name="Google Shape;346;body"/>
          <p:cNvSpPr/>
          <p:nvPr/>
        </p:nvSpPr>
        <p:spPr>
          <a:xfrm>
            <a:off x="4533450" y="27906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</a:rPr>
              <a:t>&lt;article&gt;</a:t>
            </a:r>
          </a:p>
        </p:txBody>
      </p:sp>
      <p:sp>
        <p:nvSpPr>
          <p:cNvPr id="347" name="Google Shape;347;body"/>
          <p:cNvSpPr/>
          <p:nvPr/>
        </p:nvSpPr>
        <p:spPr>
          <a:xfrm>
            <a:off x="6171450" y="27906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Self-contained content: post, story, card.</a:t>
            </a:r>
          </a:p>
        </p:txBody>
      </p:sp>
      <p:sp>
        <p:nvSpPr>
          <p:cNvPr id="348" name="Google Shape;348;body"/>
          <p:cNvSpPr/>
          <p:nvPr/>
        </p:nvSpPr>
        <p:spPr>
          <a:xfrm>
            <a:off x="4533450" y="33621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</a:rPr>
              <a:t>&lt;section&gt;</a:t>
            </a:r>
          </a:p>
        </p:txBody>
      </p:sp>
      <p:sp>
        <p:nvSpPr>
          <p:cNvPr id="349" name="Google Shape;349;body"/>
          <p:cNvSpPr/>
          <p:nvPr/>
        </p:nvSpPr>
        <p:spPr>
          <a:xfrm>
            <a:off x="6171450" y="33621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Thematic grouping — should have a heading.</a:t>
            </a:r>
          </a:p>
        </p:txBody>
      </p:sp>
      <p:sp>
        <p:nvSpPr>
          <p:cNvPr id="350" name="Google Shape;350;body"/>
          <p:cNvSpPr/>
          <p:nvPr/>
        </p:nvSpPr>
        <p:spPr>
          <a:xfrm>
            <a:off x="4533450" y="39336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</a:rPr>
              <a:t>&lt;aside&gt;</a:t>
            </a:r>
          </a:p>
        </p:txBody>
      </p:sp>
      <p:sp>
        <p:nvSpPr>
          <p:cNvPr id="351" name="Google Shape;351;body"/>
          <p:cNvSpPr/>
          <p:nvPr/>
        </p:nvSpPr>
        <p:spPr>
          <a:xfrm>
            <a:off x="6171450" y="39336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Sidebar, pull quote, related content.</a:t>
            </a:r>
          </a:p>
        </p:txBody>
      </p:sp>
      <p:sp>
        <p:nvSpPr>
          <p:cNvPr id="352" name="Google Shape;352;body"/>
          <p:cNvSpPr/>
          <p:nvPr/>
        </p:nvSpPr>
        <p:spPr>
          <a:xfrm>
            <a:off x="4533450" y="4505175"/>
            <a:ext cx="1600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Courier New"/>
              </a:rPr>
              <a:t>&lt;footer&gt;</a:t>
            </a:r>
          </a:p>
        </p:txBody>
      </p:sp>
      <p:sp>
        <p:nvSpPr>
          <p:cNvPr id="353" name="Google Shape;353;body"/>
          <p:cNvSpPr/>
          <p:nvPr/>
        </p:nvSpPr>
        <p:spPr>
          <a:xfrm>
            <a:off x="6171450" y="4505175"/>
            <a:ext cx="2743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</a:rPr>
              <a:t>Bottom of page/section — copyright, links.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8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7" name="Google Shape;177;p8"/>
          <p:cNvSpPr/>
          <p:nvPr/>
        </p:nvSpPr>
        <p:spPr>
          <a:xfrm>
            <a:off x="857250" y="342900"/>
            <a:ext cx="3944493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Semantic HTML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71500" y="933450"/>
            <a:ext cx="3730752" cy="82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96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75"/>
              <a:buFont typeface="Arial"/>
              <a:buNone/>
            </a:pPr>
            <a:r>
              <a:rPr lang="en-US" sz="127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Use elements that describe </a:t>
            </a:r>
            <a:r>
              <a:rPr lang="en-US" sz="1275" b="1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r>
              <a:rPr lang="en-US" sz="1275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, not appearance. This helps screen readers and search engines.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571500" y="2101900"/>
            <a:ext cx="3657600" cy="786705"/>
          </a:xfrm>
          <a:prstGeom prst="roundRect">
            <a:avLst>
              <a:gd name="adj" fmla="val 9686"/>
            </a:avLst>
          </a:prstGeom>
          <a:solidFill>
            <a:srgbClr val="FFE6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0" name="Google Shape;180;p8"/>
          <p:cNvCxnSpPr/>
          <p:nvPr/>
        </p:nvCxnSpPr>
        <p:spPr>
          <a:xfrm>
            <a:off x="590550" y="2101900"/>
            <a:ext cx="0" cy="786705"/>
          </a:xfrm>
          <a:prstGeom prst="straightConnector1">
            <a:avLst/>
          </a:prstGeom>
          <a:noFill/>
          <a:ln w="3810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8"/>
          <p:cNvSpPr/>
          <p:nvPr/>
        </p:nvSpPr>
        <p:spPr>
          <a:xfrm>
            <a:off x="781050" y="2273350"/>
            <a:ext cx="334213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❌ Bad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781050" y="2530525"/>
            <a:ext cx="3342132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&lt;div&gt;Main Title&lt;/div&gt;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571500" y="3174355"/>
            <a:ext cx="3657600" cy="786705"/>
          </a:xfrm>
          <a:prstGeom prst="roundRect">
            <a:avLst>
              <a:gd name="adj" fmla="val 9686"/>
            </a:avLst>
          </a:prstGeom>
          <a:solidFill>
            <a:srgbClr val="E8F8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8"/>
          <p:cNvCxnSpPr/>
          <p:nvPr/>
        </p:nvCxnSpPr>
        <p:spPr>
          <a:xfrm>
            <a:off x="590550" y="3174355"/>
            <a:ext cx="0" cy="786705"/>
          </a:xfrm>
          <a:prstGeom prst="straightConnector1">
            <a:avLst/>
          </a:prstGeom>
          <a:noFill/>
          <a:ln w="38100" cap="flat" cmpd="sng">
            <a:solidFill>
              <a:srgbClr val="27AE6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5" name="Google Shape;185;p8"/>
          <p:cNvSpPr/>
          <p:nvPr/>
        </p:nvSpPr>
        <p:spPr>
          <a:xfrm>
            <a:off x="781050" y="3345805"/>
            <a:ext cx="3342132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125"/>
              <a:buFont typeface="Arial"/>
              <a:buNone/>
            </a:pPr>
            <a:r>
              <a:rPr lang="en-US" sz="1125" b="1" i="0" u="none" strike="noStrike" cap="none">
                <a:solidFill>
                  <a:srgbClr val="27AE60"/>
                </a:solidFill>
                <a:latin typeface="Arial"/>
                <a:ea typeface="Arial"/>
                <a:cs typeface="Arial"/>
                <a:sym typeface="Arial"/>
              </a:rPr>
              <a:t>✓ Good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781050" y="3602980"/>
            <a:ext cx="3342132" cy="186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ourier New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Courier New"/>
                <a:ea typeface="Courier New"/>
                <a:cs typeface="Courier New"/>
                <a:sym typeface="Courier New"/>
              </a:rPr>
              <a:t>&lt;h1&gt;Main Title&lt;/h1&gt;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4457700" y="1144339"/>
            <a:ext cx="4114800" cy="2605683"/>
          </a:xfrm>
          <a:prstGeom prst="roundRect">
            <a:avLst>
              <a:gd name="adj" fmla="val 438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686300" y="1372939"/>
            <a:ext cx="373075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Common Semantic Elements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4686300" y="1906339"/>
            <a:ext cx="373075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&lt;header&gt;</a:t>
            </a: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Top of page/section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686300" y="2188220"/>
            <a:ext cx="373075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&lt;nav&gt;</a:t>
            </a: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Navigation links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4686300" y="2470100"/>
            <a:ext cx="373075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&lt;main&gt;</a:t>
            </a: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Main content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4686300" y="2751981"/>
            <a:ext cx="373075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&lt;article&gt;</a:t>
            </a: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Independent content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686300" y="3033861"/>
            <a:ext cx="373075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&lt;section&gt;</a:t>
            </a: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Thematic grouping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686300" y="3315742"/>
            <a:ext cx="373075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&lt;footer&gt;</a:t>
            </a: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 Bottom of page/section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9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2" name="Google Shape;202;p9"/>
          <p:cNvSpPr/>
          <p:nvPr/>
        </p:nvSpPr>
        <p:spPr>
          <a:xfrm>
            <a:off x="857250" y="342900"/>
            <a:ext cx="5508689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3300"/>
              <a:buFont typeface="Arial"/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HTML Forms (Introduction)</a:t>
            </a:r>
            <a:endParaRPr sz="3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71500" y="1462832"/>
            <a:ext cx="3730752" cy="517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Forms collect user information through various input types.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571500" y="2323654"/>
            <a:ext cx="3657600" cy="1752302"/>
          </a:xfrm>
          <a:prstGeom prst="roundRect">
            <a:avLst>
              <a:gd name="adj" fmla="val 4349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762000" y="2514154"/>
            <a:ext cx="33421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C0392B"/>
                </a:solidFill>
                <a:latin typeface="Arial"/>
                <a:ea typeface="Arial"/>
                <a:cs typeface="Arial"/>
                <a:sym typeface="Arial"/>
              </a:rPr>
              <a:t>Common Input Types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62000" y="2834134"/>
            <a:ext cx="33421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type="text" Single-line text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762000" y="3116014"/>
            <a:ext cx="33421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type="email" Email address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62000" y="3397895"/>
            <a:ext cx="33421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type="password" Hidden text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62000" y="3679775"/>
            <a:ext cx="3342132" cy="205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2C3E50"/>
                </a:solidFill>
                <a:latin typeface="Arial"/>
                <a:ea typeface="Arial"/>
                <a:cs typeface="Arial"/>
                <a:sym typeface="Arial"/>
              </a:rPr>
              <a:t>&lt;textarea&gt; Multi-line text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4457700" y="933450"/>
            <a:ext cx="4114800" cy="3671888"/>
          </a:xfrm>
          <a:prstGeom prst="roundRect">
            <a:avLst>
              <a:gd name="adj" fmla="val 3113"/>
            </a:avLst>
          </a:prstGeom>
          <a:solidFill>
            <a:srgbClr val="2C3E5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686300" y="1162050"/>
            <a:ext cx="3730752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5A5A6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95A5A6"/>
                </a:solidFill>
                <a:latin typeface="Arial"/>
                <a:ea typeface="Arial"/>
                <a:cs typeface="Arial"/>
                <a:sym typeface="Arial"/>
              </a:rPr>
              <a:t>EXAMPLE FORM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4686300" y="1601986"/>
            <a:ext cx="3657600" cy="2309961"/>
          </a:xfrm>
          <a:prstGeom prst="roundRect">
            <a:avLst>
              <a:gd name="adj" fmla="val 3299"/>
            </a:avLst>
          </a:prstGeom>
          <a:solidFill>
            <a:srgbClr val="3449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838700" y="1754386"/>
            <a:ext cx="3419856" cy="2005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&lt;form&gt;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&lt;label&gt;Name:&lt;/label&gt;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&lt;input type="text"&gt;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Calibri"/>
              <a:buNone/>
            </a:pP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&lt;label&gt;Email:&lt;/label&gt;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&lt;input type="email"&gt;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5"/>
              <a:buFont typeface="Calibri"/>
              <a:buNone/>
            </a:pP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&lt;button&gt;Submit&lt;/button&gt;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75"/>
              <a:buFont typeface="Courier New"/>
              <a:buNone/>
            </a:pPr>
            <a:r>
              <a:rPr lang="en-US" sz="975" b="0" i="0" u="none" strike="noStrike" cap="non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&lt;/form&gt;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686300" y="4178647"/>
            <a:ext cx="3730752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BDC3C7"/>
              </a:buClr>
              <a:buSzPts val="975"/>
              <a:buFont typeface="Arial"/>
              <a:buNone/>
            </a:pPr>
            <a:r>
              <a:rPr lang="en-US" sz="975" b="0" i="0" u="none" strike="noStrike" cap="none">
                <a:solidFill>
                  <a:srgbClr val="BDC3C7"/>
                </a:solidFill>
                <a:latin typeface="Arial"/>
                <a:ea typeface="Arial"/>
                <a:cs typeface="Arial"/>
                <a:sym typeface="Arial"/>
              </a:rPr>
              <a:t>Always use labels with inputs for accessibility!</a:t>
            </a:r>
            <a:endParaRPr sz="9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1" name="Google Shape;401;bar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2" name="Google Shape;402;title"/>
          <p:cNvSpPr/>
          <p:nvPr/>
        </p:nvSpPr>
        <p:spPr>
          <a:xfrm>
            <a:off x="857250" y="342900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</a:rPr>
              <a:t>HTML Forms</a:t>
            </a:r>
          </a:p>
        </p:txBody>
      </p:sp>
      <p:sp>
        <p:nvSpPr>
          <p:cNvPr id="403" name="Google Shape;403;body"/>
          <p:cNvSpPr/>
          <p:nvPr/>
        </p:nvSpPr>
        <p:spPr>
          <a:xfrm>
            <a:off x="857250" y="8001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7F8C8D"/>
                </a:solidFill>
                <a:latin typeface="Arial"/>
              </a:rPr>
              <a:t>Collecting user input with the right elements and attributes</a:t>
            </a:r>
          </a:p>
        </p:txBody>
      </p:sp>
      <p:sp>
        <p:nvSpPr>
          <p:cNvPr id="410" name="Google Shape;410;card"/>
          <p:cNvSpPr/>
          <p:nvPr/>
        </p:nvSpPr>
        <p:spPr>
          <a:xfrm>
            <a:off x="457200" y="1086450"/>
            <a:ext cx="3962400" cy="38862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11" name="Google Shape;411;body"/>
          <p:cNvSpPr/>
          <p:nvPr/>
        </p:nvSpPr>
        <p:spPr>
          <a:xfrm>
            <a:off x="647700" y="1162800"/>
            <a:ext cx="3581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0392B"/>
                </a:solidFill>
                <a:latin typeface="Arial"/>
              </a:rPr>
              <a:t>Common Input Types</a:t>
            </a:r>
          </a:p>
        </p:txBody>
      </p:sp>
      <p:sp>
        <p:nvSpPr>
          <p:cNvPr id="420" name="Google Shape;420;body"/>
          <p:cNvSpPr/>
          <p:nvPr/>
        </p:nvSpPr>
        <p:spPr>
          <a:xfrm>
            <a:off x="647700" y="15430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type="text"</a:t>
            </a:r>
          </a:p>
        </p:txBody>
      </p:sp>
      <p:sp>
        <p:nvSpPr>
          <p:cNvPr id="421" name="Google Shape;421;body"/>
          <p:cNvSpPr/>
          <p:nvPr/>
        </p:nvSpPr>
        <p:spPr>
          <a:xfrm>
            <a:off x="2400300" y="15430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Single-line text</a:t>
            </a:r>
          </a:p>
        </p:txBody>
      </p:sp>
      <p:sp>
        <p:nvSpPr>
          <p:cNvPr id="422" name="Google Shape;422;body"/>
          <p:cNvSpPr/>
          <p:nvPr/>
        </p:nvSpPr>
        <p:spPr>
          <a:xfrm>
            <a:off x="647700" y="18859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type="email"</a:t>
            </a:r>
          </a:p>
        </p:txBody>
      </p:sp>
      <p:sp>
        <p:nvSpPr>
          <p:cNvPr id="423" name="Google Shape;423;body"/>
          <p:cNvSpPr/>
          <p:nvPr/>
        </p:nvSpPr>
        <p:spPr>
          <a:xfrm>
            <a:off x="2400300" y="18859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Validates email format</a:t>
            </a:r>
          </a:p>
        </p:txBody>
      </p:sp>
      <p:sp>
        <p:nvSpPr>
          <p:cNvPr id="424" name="Google Shape;424;body"/>
          <p:cNvSpPr/>
          <p:nvPr/>
        </p:nvSpPr>
        <p:spPr>
          <a:xfrm>
            <a:off x="647700" y="22288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type="password"</a:t>
            </a:r>
          </a:p>
        </p:txBody>
      </p:sp>
      <p:sp>
        <p:nvSpPr>
          <p:cNvPr id="425" name="Google Shape;425;body"/>
          <p:cNvSpPr/>
          <p:nvPr/>
        </p:nvSpPr>
        <p:spPr>
          <a:xfrm>
            <a:off x="2400300" y="22288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Hidden characters</a:t>
            </a:r>
          </a:p>
        </p:txBody>
      </p:sp>
      <p:sp>
        <p:nvSpPr>
          <p:cNvPr id="426" name="Google Shape;426;body"/>
          <p:cNvSpPr/>
          <p:nvPr/>
        </p:nvSpPr>
        <p:spPr>
          <a:xfrm>
            <a:off x="647700" y="25717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type="number"</a:t>
            </a:r>
          </a:p>
        </p:txBody>
      </p:sp>
      <p:sp>
        <p:nvSpPr>
          <p:cNvPr id="427" name="Google Shape;427;body"/>
          <p:cNvSpPr/>
          <p:nvPr/>
        </p:nvSpPr>
        <p:spPr>
          <a:xfrm>
            <a:off x="2400300" y="25717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Numeric input only</a:t>
            </a:r>
          </a:p>
        </p:txBody>
      </p:sp>
      <p:sp>
        <p:nvSpPr>
          <p:cNvPr id="428" name="Google Shape;428;body"/>
          <p:cNvSpPr/>
          <p:nvPr/>
        </p:nvSpPr>
        <p:spPr>
          <a:xfrm>
            <a:off x="647700" y="29146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type="checkbox"</a:t>
            </a:r>
          </a:p>
        </p:txBody>
      </p:sp>
      <p:sp>
        <p:nvSpPr>
          <p:cNvPr id="429" name="Google Shape;429;body"/>
          <p:cNvSpPr/>
          <p:nvPr/>
        </p:nvSpPr>
        <p:spPr>
          <a:xfrm>
            <a:off x="2400300" y="29146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On/off toggle</a:t>
            </a:r>
          </a:p>
        </p:txBody>
      </p:sp>
      <p:sp>
        <p:nvSpPr>
          <p:cNvPr id="430" name="Google Shape;430;body"/>
          <p:cNvSpPr/>
          <p:nvPr/>
        </p:nvSpPr>
        <p:spPr>
          <a:xfrm>
            <a:off x="647700" y="32575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type="radio"</a:t>
            </a:r>
          </a:p>
        </p:txBody>
      </p:sp>
      <p:sp>
        <p:nvSpPr>
          <p:cNvPr id="431" name="Google Shape;431;body"/>
          <p:cNvSpPr/>
          <p:nvPr/>
        </p:nvSpPr>
        <p:spPr>
          <a:xfrm>
            <a:off x="2400300" y="32575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One choice from a group</a:t>
            </a:r>
          </a:p>
        </p:txBody>
      </p:sp>
      <p:sp>
        <p:nvSpPr>
          <p:cNvPr id="432" name="Google Shape;432;body"/>
          <p:cNvSpPr/>
          <p:nvPr/>
        </p:nvSpPr>
        <p:spPr>
          <a:xfrm>
            <a:off x="647700" y="36004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type="date"</a:t>
            </a:r>
          </a:p>
        </p:txBody>
      </p:sp>
      <p:sp>
        <p:nvSpPr>
          <p:cNvPr id="433" name="Google Shape;433;body"/>
          <p:cNvSpPr/>
          <p:nvPr/>
        </p:nvSpPr>
        <p:spPr>
          <a:xfrm>
            <a:off x="2400300" y="36004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Date picker UI</a:t>
            </a:r>
          </a:p>
        </p:txBody>
      </p:sp>
      <p:sp>
        <p:nvSpPr>
          <p:cNvPr id="434" name="Google Shape;434;body"/>
          <p:cNvSpPr/>
          <p:nvPr/>
        </p:nvSpPr>
        <p:spPr>
          <a:xfrm>
            <a:off x="647700" y="39433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type="file"</a:t>
            </a:r>
          </a:p>
        </p:txBody>
      </p:sp>
      <p:sp>
        <p:nvSpPr>
          <p:cNvPr id="435" name="Google Shape;435;body"/>
          <p:cNvSpPr/>
          <p:nvPr/>
        </p:nvSpPr>
        <p:spPr>
          <a:xfrm>
            <a:off x="2400300" y="39433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File upload button</a:t>
            </a:r>
          </a:p>
        </p:txBody>
      </p:sp>
      <p:sp>
        <p:nvSpPr>
          <p:cNvPr id="436" name="Google Shape;436;body"/>
          <p:cNvSpPr/>
          <p:nvPr/>
        </p:nvSpPr>
        <p:spPr>
          <a:xfrm>
            <a:off x="647700" y="42862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&lt;textarea&gt;</a:t>
            </a:r>
          </a:p>
        </p:txBody>
      </p:sp>
      <p:sp>
        <p:nvSpPr>
          <p:cNvPr id="437" name="Google Shape;437;body"/>
          <p:cNvSpPr/>
          <p:nvPr/>
        </p:nvSpPr>
        <p:spPr>
          <a:xfrm>
            <a:off x="2400300" y="42862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Multi-line text input</a:t>
            </a:r>
          </a:p>
        </p:txBody>
      </p:sp>
      <p:sp>
        <p:nvSpPr>
          <p:cNvPr id="438" name="Google Shape;438;body"/>
          <p:cNvSpPr/>
          <p:nvPr/>
        </p:nvSpPr>
        <p:spPr>
          <a:xfrm>
            <a:off x="647700" y="4629150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&lt;select&gt;</a:t>
            </a:r>
          </a:p>
        </p:txBody>
      </p:sp>
      <p:sp>
        <p:nvSpPr>
          <p:cNvPr id="439" name="Google Shape;439;body"/>
          <p:cNvSpPr/>
          <p:nvPr/>
        </p:nvSpPr>
        <p:spPr>
          <a:xfrm>
            <a:off x="2400300" y="4629150"/>
            <a:ext cx="19047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Dropdown list of options</a:t>
            </a:r>
          </a:p>
        </p:txBody>
      </p:sp>
      <p:sp>
        <p:nvSpPr>
          <p:cNvPr id="450" name="Google Shape;450;card"/>
          <p:cNvSpPr/>
          <p:nvPr/>
        </p:nvSpPr>
        <p:spPr>
          <a:xfrm>
            <a:off x="4533450" y="1086450"/>
            <a:ext cx="4153800" cy="2057400"/>
          </a:xfrm>
          <a:prstGeom prst="roundRect">
            <a:avLst>
              <a:gd name="adj" fmla="val 8457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51" name="Google Shape;451;body"/>
          <p:cNvSpPr/>
          <p:nvPr/>
        </p:nvSpPr>
        <p:spPr>
          <a:xfrm>
            <a:off x="4724250" y="1162800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2980B9"/>
                </a:solidFill>
                <a:latin typeface="Arial"/>
              </a:rPr>
              <a:t>EXAMPLE FORM</a:t>
            </a:r>
          </a:p>
        </p:txBody>
      </p:sp>
      <p:sp>
        <p:nvSpPr>
          <p:cNvPr id="452" name="Google Shape;452;code"/>
          <p:cNvSpPr/>
          <p:nvPr/>
        </p:nvSpPr>
        <p:spPr>
          <a:xfrm>
            <a:off x="4686750" y="1543050"/>
            <a:ext cx="39243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&lt;form&gt;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  &lt;label for="name"&gt;Name:&lt;/label&gt;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  &lt;input type="text" id="name" required&gt;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b="0" i="0" u="none" strike="noStrike" cap="none">
              <a:solidFill>
                <a:srgbClr val="2980B9"/>
              </a:solidFill>
              <a:latin typeface="Courier New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  &lt;label for="email"&gt;Email:&lt;/label&gt;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  &lt;input type="email" id="email" required&gt;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b="0" i="0" u="none" strike="noStrike" cap="none">
              <a:solidFill>
                <a:srgbClr val="2980B9"/>
              </a:solidFill>
              <a:latin typeface="Courier New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  &lt;label for="msg"&gt;Message:&lt;/label&gt;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  &lt;textarea id="msg" rows="3"&gt;&lt;/textarea&gt;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b="0" i="0" u="none" strike="noStrike" cap="none">
              <a:solidFill>
                <a:srgbClr val="2980B9"/>
              </a:solidFill>
              <a:latin typeface="Courier New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  &lt;button type="submit"&gt;Send&lt;/button&gt;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2980B9"/>
                </a:solidFill>
                <a:latin typeface="Courier New"/>
              </a:rPr>
              <a:t>&lt;/form&gt;</a:t>
            </a:r>
          </a:p>
        </p:txBody>
      </p:sp>
      <p:sp>
        <p:nvSpPr>
          <p:cNvPr id="460" name="Google Shape;460;card"/>
          <p:cNvSpPr/>
          <p:nvPr/>
        </p:nvSpPr>
        <p:spPr>
          <a:xfrm>
            <a:off x="4533450" y="3200400"/>
            <a:ext cx="4153800" cy="1771800"/>
          </a:xfrm>
          <a:prstGeom prst="roundRect">
            <a:avLst>
              <a:gd name="adj" fmla="val 8457"/>
            </a:avLst>
          </a:prstGeom>
          <a:solidFill>
            <a:srgbClr val="FFF9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461" name="Google Shape;461;ybar"/>
          <p:cNvCxnSpPr/>
          <p:nvPr/>
        </p:nvCxnSpPr>
        <p:spPr>
          <a:xfrm>
            <a:off x="4552500" y="3200400"/>
            <a:ext cx="0" cy="1771800"/>
          </a:xfrm>
          <a:prstGeom prst="straightConnector1">
            <a:avLst/>
          </a:prstGeom>
          <a:noFill/>
          <a:ln w="38100" cap="flat" cmpd="sng">
            <a:solidFill>
              <a:srgbClr val="F39C1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2" name="Google Shape;462;body"/>
          <p:cNvSpPr/>
          <p:nvPr/>
        </p:nvSpPr>
        <p:spPr>
          <a:xfrm>
            <a:off x="4743000" y="3276750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E67E22"/>
                </a:solidFill>
                <a:latin typeface="Arial"/>
              </a:rPr>
              <a:t>Validation Attributes</a:t>
            </a:r>
          </a:p>
        </p:txBody>
      </p:sp>
      <p:sp>
        <p:nvSpPr>
          <p:cNvPr id="463" name="Google Shape;463;body"/>
          <p:cNvSpPr/>
          <p:nvPr/>
        </p:nvSpPr>
        <p:spPr>
          <a:xfrm>
            <a:off x="4743000" y="3657600"/>
            <a:ext cx="3771900" cy="12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Courier New"/>
              </a:rPr>
              <a:t>required           — must fill before submit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Courier New"/>
              </a:rPr>
              <a:t>minlength="3"      — minimum character count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Courier New"/>
              </a:rPr>
              <a:t>maxlength="50"     — maximum character count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Courier New"/>
              </a:rPr>
              <a:t>min="1" max="100"  — numeric range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Courier New"/>
              </a:rPr>
              <a:t>pattern="[A-Z]+"   — regex pattern match</a:t>
            </a:r>
          </a:p>
        </p:txBody>
      </p:sp>
      <p:sp>
        <p:nvSpPr>
          <p:cNvPr id="470" name="Google Shape;470;card"/>
          <p:cNvSpPr/>
          <p:nvPr/>
        </p:nvSpPr>
        <p:spPr>
          <a:xfrm>
            <a:off x="457200" y="5029200"/>
            <a:ext cx="8229600" cy="457200"/>
          </a:xfrm>
          <a:prstGeom prst="roundRect">
            <a:avLst>
              <a:gd name="adj" fmla="val 8457"/>
            </a:avLst>
          </a:prstGeom>
          <a:solidFill>
            <a:srgbClr val="FFF9E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471" name="Google Shape;471;body"/>
          <p:cNvSpPr/>
          <p:nvPr/>
        </p:nvSpPr>
        <p:spPr>
          <a:xfrm>
            <a:off x="457200" y="497265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0392B"/>
                </a:solidFill>
                <a:latin typeface="Arial"/>
              </a:rPr>
              <a:t>Always pair &lt;label for="id"&gt; with &lt;input id="id"&gt; — this is required for accessibility.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01" name="Google Shape;501;bar"/>
          <p:cNvCxnSpPr/>
          <p:nvPr/>
        </p:nvCxnSpPr>
        <p:spPr>
          <a:xfrm>
            <a:off x="600075" y="342900"/>
            <a:ext cx="0" cy="41910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2" name="Google Shape;502;title"/>
          <p:cNvSpPr/>
          <p:nvPr/>
        </p:nvSpPr>
        <p:spPr>
          <a:xfrm>
            <a:off x="857250" y="342900"/>
            <a:ext cx="777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C0392B"/>
                </a:solidFill>
                <a:latin typeface="Arial"/>
              </a:rPr>
              <a:t>Tables for Tabular Data</a:t>
            </a:r>
          </a:p>
        </p:txBody>
      </p:sp>
      <p:sp>
        <p:nvSpPr>
          <p:cNvPr id="503" name="Google Shape;503;body"/>
          <p:cNvSpPr/>
          <p:nvPr/>
        </p:nvSpPr>
        <p:spPr>
          <a:xfrm>
            <a:off x="857250" y="80010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7F8C8D"/>
                </a:solidFill>
                <a:latin typeface="Arial"/>
              </a:rPr>
              <a:t>Use tables for data grids — never for page layout</a:t>
            </a:r>
          </a:p>
        </p:txBody>
      </p:sp>
      <p:sp>
        <p:nvSpPr>
          <p:cNvPr id="510" name="Google Shape;510;codebg"/>
          <p:cNvSpPr/>
          <p:nvPr/>
        </p:nvSpPr>
        <p:spPr>
          <a:xfrm>
            <a:off x="457200" y="1086450"/>
            <a:ext cx="3962400" cy="3543300"/>
          </a:xfrm>
          <a:prstGeom prst="roundRect">
            <a:avLst>
              <a:gd name="adj" fmla="val 6000"/>
            </a:avLst>
          </a:prstGeom>
          <a:solidFill>
            <a:srgbClr val="EBF5F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11" name="Google Shape;511;code"/>
          <p:cNvSpPr/>
          <p:nvPr/>
        </p:nvSpPr>
        <p:spPr>
          <a:xfrm>
            <a:off x="571500" y="1200150"/>
            <a:ext cx="373335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&lt;table&gt;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thead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&gt;Name&lt;/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&gt;Score&lt;/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&gt;Grade&lt;/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thead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tbody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&lt;td&gt;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Adeola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&lt;/td&gt;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&lt;td&gt;88&lt;/td&gt;  &lt;td&gt;B+&lt;/td&gt;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&lt;td&gt;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Emeka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&lt;/td&gt;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&lt;td&gt;95&lt;/td&gt;  &lt;td&gt;A&lt;/td&gt;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tbody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tfoot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&lt;td 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colspan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="2"&gt;Average&lt;/td&gt;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  &lt;td&gt;91.5&lt;/td&gt;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  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tr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  &lt;/</a:t>
            </a:r>
            <a:r>
              <a:rPr lang="en-US" sz="600" b="0" i="0" u="none" strike="noStrike" cap="none" dirty="0" err="1">
                <a:solidFill>
                  <a:srgbClr val="2980B9"/>
                </a:solidFill>
                <a:latin typeface="Courier New"/>
              </a:rPr>
              <a:t>tfoot</a:t>
            </a: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&gt;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 b="0" i="0" u="none" strike="noStrike" cap="none" dirty="0">
                <a:solidFill>
                  <a:srgbClr val="2980B9"/>
                </a:solidFill>
                <a:latin typeface="Courier New"/>
              </a:rPr>
              <a:t>&lt;/table&gt;</a:t>
            </a:r>
          </a:p>
        </p:txBody>
      </p:sp>
      <p:sp>
        <p:nvSpPr>
          <p:cNvPr id="520" name="Google Shape;520;card"/>
          <p:cNvSpPr/>
          <p:nvPr/>
        </p:nvSpPr>
        <p:spPr>
          <a:xfrm>
            <a:off x="4533450" y="1086450"/>
            <a:ext cx="4153800" cy="2628600"/>
          </a:xfrm>
          <a:prstGeom prst="roundRect">
            <a:avLst>
              <a:gd name="adj" fmla="val 8457"/>
            </a:avLst>
          </a:prstGeom>
          <a:solidFill>
            <a:srgbClr val="FDF6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sp>
        <p:nvSpPr>
          <p:cNvPr id="521" name="Google Shape;521;body"/>
          <p:cNvSpPr/>
          <p:nvPr/>
        </p:nvSpPr>
        <p:spPr>
          <a:xfrm>
            <a:off x="4724250" y="1162800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0392B"/>
                </a:solidFill>
                <a:latin typeface="Arial"/>
              </a:rPr>
              <a:t>Table Tag Reference</a:t>
            </a:r>
          </a:p>
        </p:txBody>
      </p:sp>
      <p:sp>
        <p:nvSpPr>
          <p:cNvPr id="530" name="Google Shape;530;body"/>
          <p:cNvSpPr/>
          <p:nvPr/>
        </p:nvSpPr>
        <p:spPr>
          <a:xfrm>
            <a:off x="4724250" y="15811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&lt;table&gt;</a:t>
            </a:r>
          </a:p>
        </p:txBody>
      </p:sp>
      <p:sp>
        <p:nvSpPr>
          <p:cNvPr id="531" name="Google Shape;531;body"/>
          <p:cNvSpPr/>
          <p:nvPr/>
        </p:nvSpPr>
        <p:spPr>
          <a:xfrm>
            <a:off x="6362250" y="15811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Wraps the entire table</a:t>
            </a:r>
          </a:p>
        </p:txBody>
      </p:sp>
      <p:sp>
        <p:nvSpPr>
          <p:cNvPr id="532" name="Google Shape;532;body"/>
          <p:cNvSpPr/>
          <p:nvPr/>
        </p:nvSpPr>
        <p:spPr>
          <a:xfrm>
            <a:off x="4724250" y="18478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&lt;thead&gt;</a:t>
            </a:r>
          </a:p>
        </p:txBody>
      </p:sp>
      <p:sp>
        <p:nvSpPr>
          <p:cNvPr id="533" name="Google Shape;533;body"/>
          <p:cNvSpPr/>
          <p:nvPr/>
        </p:nvSpPr>
        <p:spPr>
          <a:xfrm>
            <a:off x="6362250" y="18478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Header row group</a:t>
            </a:r>
          </a:p>
        </p:txBody>
      </p:sp>
      <p:sp>
        <p:nvSpPr>
          <p:cNvPr id="534" name="Google Shape;534;body"/>
          <p:cNvSpPr/>
          <p:nvPr/>
        </p:nvSpPr>
        <p:spPr>
          <a:xfrm>
            <a:off x="4724250" y="21145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&lt;tbody&gt;</a:t>
            </a:r>
          </a:p>
        </p:txBody>
      </p:sp>
      <p:sp>
        <p:nvSpPr>
          <p:cNvPr id="535" name="Google Shape;535;body"/>
          <p:cNvSpPr/>
          <p:nvPr/>
        </p:nvSpPr>
        <p:spPr>
          <a:xfrm>
            <a:off x="6362250" y="21145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Main data rows</a:t>
            </a:r>
          </a:p>
        </p:txBody>
      </p:sp>
      <p:sp>
        <p:nvSpPr>
          <p:cNvPr id="536" name="Google Shape;536;body"/>
          <p:cNvSpPr/>
          <p:nvPr/>
        </p:nvSpPr>
        <p:spPr>
          <a:xfrm>
            <a:off x="4724250" y="23812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&lt;tfoot&gt;</a:t>
            </a:r>
          </a:p>
        </p:txBody>
      </p:sp>
      <p:sp>
        <p:nvSpPr>
          <p:cNvPr id="537" name="Google Shape;537;body"/>
          <p:cNvSpPr/>
          <p:nvPr/>
        </p:nvSpPr>
        <p:spPr>
          <a:xfrm>
            <a:off x="6362250" y="23812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Footer row — totals</a:t>
            </a:r>
          </a:p>
        </p:txBody>
      </p:sp>
      <p:sp>
        <p:nvSpPr>
          <p:cNvPr id="538" name="Google Shape;538;body"/>
          <p:cNvSpPr/>
          <p:nvPr/>
        </p:nvSpPr>
        <p:spPr>
          <a:xfrm>
            <a:off x="4724250" y="26479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&lt;tr&gt;</a:t>
            </a:r>
          </a:p>
        </p:txBody>
      </p:sp>
      <p:sp>
        <p:nvSpPr>
          <p:cNvPr id="539" name="Google Shape;539;body"/>
          <p:cNvSpPr/>
          <p:nvPr/>
        </p:nvSpPr>
        <p:spPr>
          <a:xfrm>
            <a:off x="6362250" y="26479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Table row</a:t>
            </a:r>
          </a:p>
        </p:txBody>
      </p:sp>
      <p:sp>
        <p:nvSpPr>
          <p:cNvPr id="540" name="Google Shape;540;body"/>
          <p:cNvSpPr/>
          <p:nvPr/>
        </p:nvSpPr>
        <p:spPr>
          <a:xfrm>
            <a:off x="4724250" y="29146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&lt;th&gt;</a:t>
            </a:r>
          </a:p>
        </p:txBody>
      </p:sp>
      <p:sp>
        <p:nvSpPr>
          <p:cNvPr id="541" name="Google Shape;541;body"/>
          <p:cNvSpPr/>
          <p:nvPr/>
        </p:nvSpPr>
        <p:spPr>
          <a:xfrm>
            <a:off x="6362250" y="29146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Header cell (bold + centered)</a:t>
            </a:r>
          </a:p>
        </p:txBody>
      </p:sp>
      <p:sp>
        <p:nvSpPr>
          <p:cNvPr id="542" name="Google Shape;542;body"/>
          <p:cNvSpPr/>
          <p:nvPr/>
        </p:nvSpPr>
        <p:spPr>
          <a:xfrm>
            <a:off x="4724250" y="31813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&lt;td&gt;</a:t>
            </a:r>
          </a:p>
        </p:txBody>
      </p:sp>
      <p:sp>
        <p:nvSpPr>
          <p:cNvPr id="543" name="Google Shape;543;body"/>
          <p:cNvSpPr/>
          <p:nvPr/>
        </p:nvSpPr>
        <p:spPr>
          <a:xfrm>
            <a:off x="6362250" y="31813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Data cell</a:t>
            </a:r>
          </a:p>
        </p:txBody>
      </p:sp>
      <p:sp>
        <p:nvSpPr>
          <p:cNvPr id="544" name="Google Shape;544;body"/>
          <p:cNvSpPr/>
          <p:nvPr/>
        </p:nvSpPr>
        <p:spPr>
          <a:xfrm>
            <a:off x="4724250" y="34480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colspan="2"</a:t>
            </a:r>
          </a:p>
        </p:txBody>
      </p:sp>
      <p:sp>
        <p:nvSpPr>
          <p:cNvPr id="545" name="Google Shape;545;body"/>
          <p:cNvSpPr/>
          <p:nvPr/>
        </p:nvSpPr>
        <p:spPr>
          <a:xfrm>
            <a:off x="6362250" y="34480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Span across 2 columns</a:t>
            </a:r>
          </a:p>
        </p:txBody>
      </p:sp>
      <p:sp>
        <p:nvSpPr>
          <p:cNvPr id="546" name="Google Shape;546;body"/>
          <p:cNvSpPr/>
          <p:nvPr/>
        </p:nvSpPr>
        <p:spPr>
          <a:xfrm>
            <a:off x="4724250" y="3714750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C0392B"/>
                </a:solidFill>
                <a:latin typeface="Courier New"/>
              </a:rPr>
              <a:t>rowspan="2"</a:t>
            </a:r>
          </a:p>
        </p:txBody>
      </p:sp>
      <p:sp>
        <p:nvSpPr>
          <p:cNvPr id="547" name="Google Shape;547;body"/>
          <p:cNvSpPr/>
          <p:nvPr/>
        </p:nvSpPr>
        <p:spPr>
          <a:xfrm>
            <a:off x="6362250" y="3714750"/>
            <a:ext cx="2247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2C3E50"/>
                </a:solidFill>
                <a:latin typeface="Arial"/>
              </a:rPr>
              <a:t>Span across 2 rows</a:t>
            </a:r>
          </a:p>
        </p:txBody>
      </p:sp>
      <p:sp>
        <p:nvSpPr>
          <p:cNvPr id="550" name="Google Shape;550;card"/>
          <p:cNvSpPr/>
          <p:nvPr/>
        </p:nvSpPr>
        <p:spPr>
          <a:xfrm>
            <a:off x="4533450" y="3771900"/>
            <a:ext cx="4153800" cy="857250"/>
          </a:xfrm>
          <a:prstGeom prst="roundRect">
            <a:avLst>
              <a:gd name="adj" fmla="val 8457"/>
            </a:avLst>
          </a:prstGeom>
          <a:solidFill>
            <a:srgbClr val="FFF0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None/>
            </a:pPr>
            <a:endParaRPr/>
          </a:p>
        </p:txBody>
      </p:sp>
      <p:cxnSp>
        <p:nvCxnSpPr>
          <p:cNvPr id="551" name="Google Shape;551;bar"/>
          <p:cNvCxnSpPr/>
          <p:nvPr/>
        </p:nvCxnSpPr>
        <p:spPr>
          <a:xfrm>
            <a:off x="4552500" y="3771900"/>
            <a:ext cx="0" cy="857250"/>
          </a:xfrm>
          <a:prstGeom prst="straightConnector1">
            <a:avLst/>
          </a:prstGeom>
          <a:noFill/>
          <a:ln w="57150" cap="flat" cmpd="sng">
            <a:solidFill>
              <a:srgbClr val="C0392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2" name="Google Shape;552;body"/>
          <p:cNvSpPr/>
          <p:nvPr/>
        </p:nvSpPr>
        <p:spPr>
          <a:xfrm>
            <a:off x="4743000" y="3848250"/>
            <a:ext cx="377190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0392B"/>
                </a:solidFill>
                <a:latin typeface="Arial"/>
              </a:rPr>
              <a:t>⚠  Tables are for DATA only — never use &lt;table&gt; to build page layouts. Use CSS Flexbox or Grid instead.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10" descr="/tmp/rasterized-gradient-ffe33155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0"/>
          <p:cNvSpPr/>
          <p:nvPr/>
        </p:nvSpPr>
        <p:spPr>
          <a:xfrm>
            <a:off x="1960657" y="489697"/>
            <a:ext cx="522253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50"/>
              <a:buFont typeface="Arial"/>
              <a:buNone/>
            </a:pPr>
            <a:r>
              <a:rPr lang="en-US" sz="345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This Week's Assignment</a:t>
            </a:r>
            <a:endParaRPr sz="34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71500" y="1824930"/>
            <a:ext cx="8001000" cy="1714500"/>
          </a:xfrm>
          <a:prstGeom prst="roundRect">
            <a:avLst>
              <a:gd name="adj" fmla="val 6667"/>
            </a:avLst>
          </a:prstGeom>
          <a:solidFill>
            <a:srgbClr val="FFFFFF">
              <a:alpha val="14901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57250" y="21106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961876" y="2143125"/>
            <a:ext cx="97307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1295400" y="2110680"/>
            <a:ext cx="6608618" cy="27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9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lang="en-US" sz="1275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personal profile page with proper HTML </a:t>
            </a:r>
            <a:r>
              <a:rPr lang="en-US" sz="1275" b="0" i="0" u="none" strike="noStrike" cap="none" dirty="0" smtClea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sz="1275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857250" y="25297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961876" y="2562225"/>
            <a:ext cx="97307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295400" y="2529780"/>
            <a:ext cx="3608094" cy="27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9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simple recipe page using lists and images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857250" y="294888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961876" y="2981325"/>
            <a:ext cx="97307" cy="239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1295400" y="2948880"/>
            <a:ext cx="3950413" cy="275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996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lang="en-US" sz="1275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Practice using semantic HTML elements appropriately</a:t>
            </a:r>
            <a:endParaRPr sz="12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91490" y="3882330"/>
            <a:ext cx="816102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Next Week: CSS - Making it beautiful!</a:t>
            </a:r>
            <a:endParaRPr sz="1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26673" y="1004454"/>
            <a:ext cx="4946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Details will be provided on the assignment portal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1941</Words>
  <Application>Microsoft Office PowerPoint</Application>
  <PresentationFormat>On-screen Show (16:9)</PresentationFormat>
  <Paragraphs>308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Frontend Development Cohort</dc:creator>
  <cp:lastModifiedBy>Stanley Okeke</cp:lastModifiedBy>
  <cp:revision>3</cp:revision>
  <dcterms:created xsi:type="dcterms:W3CDTF">2025-11-17T07:10:18Z</dcterms:created>
  <dcterms:modified xsi:type="dcterms:W3CDTF">2026-04-26T17:37:31Z</dcterms:modified>
</cp:coreProperties>
</file>